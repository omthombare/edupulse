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2" r:id="rId7"/>
    <p:sldId id="263" r:id="rId8"/>
    <p:sldId id="264" r:id="rId9"/>
    <p:sldId id="265" r:id="rId10"/>
    <p:sldId id="271" r:id="rId11"/>
    <p:sldId id="269" r:id="rId12"/>
    <p:sldId id="266" r:id="rId13"/>
    <p:sldId id="267" r:id="rId14"/>
    <p:sldId id="268" r:id="rId15"/>
  </p:sldIdLst>
  <p:sldSz cx="18288000" cy="10287000"/>
  <p:notesSz cx="6858000" cy="9144000"/>
  <p:embeddedFontLst>
    <p:embeddedFont>
      <p:font typeface="Alexandria" panose="020B0604020202020204" charset="-78"/>
      <p:regular r:id="rId16"/>
    </p:embeddedFont>
    <p:embeddedFont>
      <p:font typeface="Alexandria Bold" panose="020B0604020202020204" charset="-78"/>
      <p:regular r:id="rId17"/>
    </p:embeddedFont>
    <p:embeddedFont>
      <p:font typeface="Times New Roman Bold" panose="02020803070505020304" pitchFamily="18" charset="0"/>
      <p:regular r:id="rId18"/>
      <p:bold r:id="rId1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52" d="100"/>
          <a:sy n="52" d="100"/>
        </p:scale>
        <p:origin x="850" y="6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3.fntdata"/><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2.fntdata"/><Relationship Id="rId2" Type="http://schemas.openxmlformats.org/officeDocument/2006/relationships/slide" Target="slides/slide1.xml"/><Relationship Id="rId16" Type="http://schemas.openxmlformats.org/officeDocument/2006/relationships/font" Target="fonts/font1.fntdata"/><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font" Target="fonts/font4.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2/5/2026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2/5/2026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2/5/2026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2/5/2026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svg"/><Relationship Id="rId7" Type="http://schemas.openxmlformats.org/officeDocument/2006/relationships/image" Target="../media/image6.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9.svg"/><Relationship Id="rId4" Type="http://schemas.openxmlformats.org/officeDocument/2006/relationships/image" Target="../media/image8.png"/></Relationships>
</file>

<file path=ppt/slides/_rels/slide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9.svg"/><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9.svg"/><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9.svg"/><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9.svg"/><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9.svg"/><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9.svg"/><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3" Type="http://schemas.openxmlformats.org/officeDocument/2006/relationships/image" Target="../media/image2.svg"/><Relationship Id="rId7" Type="http://schemas.openxmlformats.org/officeDocument/2006/relationships/image" Target="../media/image11.jpe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10.jpeg"/><Relationship Id="rId5" Type="http://schemas.openxmlformats.org/officeDocument/2006/relationships/image" Target="../media/image9.svg"/><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12.jpeg"/><Relationship Id="rId5" Type="http://schemas.openxmlformats.org/officeDocument/2006/relationships/image" Target="../media/image9.svg"/><Relationship Id="rId4" Type="http://schemas.openxmlformats.org/officeDocument/2006/relationships/image" Target="../media/image8.png"/></Relationships>
</file>

<file path=ppt/slides/_rels/slide1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13.png"/><Relationship Id="rId5" Type="http://schemas.openxmlformats.org/officeDocument/2006/relationships/image" Target="../media/image9.svg"/><Relationship Id="rId4" Type="http://schemas.openxmlformats.org/officeDocument/2006/relationships/image" Target="../media/image8.png"/></Relationships>
</file>

<file path=ppt/slides/_rels/slide1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9.svg"/><Relationship Id="rId4" Type="http://schemas.openxmlformats.org/officeDocument/2006/relationships/image" Target="../media/image8.png"/></Relationships>
</file>

<file path=ppt/slides/_rels/slide1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9.svg"/><Relationship Id="rId4" Type="http://schemas.openxmlformats.org/officeDocument/2006/relationships/image" Target="../media/image8.png"/></Relationships>
</file>

<file path=ppt/slides/_rels/slide1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9.svg"/><Relationship Id="rId4" Type="http://schemas.openxmlformats.org/officeDocument/2006/relationships/image" Target="../media/image8.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E9E9E9"/>
        </a:solidFill>
        <a:effectLst/>
      </p:bgPr>
    </p:bg>
    <p:spTree>
      <p:nvGrpSpPr>
        <p:cNvPr id="1" name=""/>
        <p:cNvGrpSpPr/>
        <p:nvPr/>
      </p:nvGrpSpPr>
      <p:grpSpPr>
        <a:xfrm>
          <a:off x="0" y="0"/>
          <a:ext cx="0" cy="0"/>
          <a:chOff x="0" y="0"/>
          <a:chExt cx="0" cy="0"/>
        </a:xfrm>
      </p:grpSpPr>
      <p:sp>
        <p:nvSpPr>
          <p:cNvPr id="2" name="Freeform 2"/>
          <p:cNvSpPr/>
          <p:nvPr/>
        </p:nvSpPr>
        <p:spPr>
          <a:xfrm rot="5400000">
            <a:off x="-598671" y="-1743170"/>
            <a:ext cx="4840370" cy="6758253"/>
          </a:xfrm>
          <a:custGeom>
            <a:avLst/>
            <a:gdLst/>
            <a:ahLst/>
            <a:cxnLst/>
            <a:rect l="l" t="t" r="r" b="b"/>
            <a:pathLst>
              <a:path w="4840370" h="6758253">
                <a:moveTo>
                  <a:pt x="0" y="0"/>
                </a:moveTo>
                <a:lnTo>
                  <a:pt x="4840370" y="0"/>
                </a:lnTo>
                <a:lnTo>
                  <a:pt x="4840370" y="6758253"/>
                </a:lnTo>
                <a:lnTo>
                  <a:pt x="0" y="675825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rot="5400000" flipH="1" flipV="1">
            <a:off x="13890343" y="5516388"/>
            <a:ext cx="4840370" cy="6758253"/>
          </a:xfrm>
          <a:custGeom>
            <a:avLst/>
            <a:gdLst/>
            <a:ahLst/>
            <a:cxnLst/>
            <a:rect l="l" t="t" r="r" b="b"/>
            <a:pathLst>
              <a:path w="4840370" h="6758253">
                <a:moveTo>
                  <a:pt x="4840371" y="6758253"/>
                </a:moveTo>
                <a:lnTo>
                  <a:pt x="0" y="6758253"/>
                </a:lnTo>
                <a:lnTo>
                  <a:pt x="0" y="0"/>
                </a:lnTo>
                <a:lnTo>
                  <a:pt x="4840371" y="0"/>
                </a:lnTo>
                <a:lnTo>
                  <a:pt x="4840371" y="6758253"/>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Freeform 4"/>
          <p:cNvSpPr/>
          <p:nvPr/>
        </p:nvSpPr>
        <p:spPr>
          <a:xfrm rot="-212327" flipH="1">
            <a:off x="-1633813" y="4706943"/>
            <a:ext cx="7684967" cy="7684967"/>
          </a:xfrm>
          <a:custGeom>
            <a:avLst/>
            <a:gdLst/>
            <a:ahLst/>
            <a:cxnLst/>
            <a:rect l="l" t="t" r="r" b="b"/>
            <a:pathLst>
              <a:path w="7684967" h="7684967">
                <a:moveTo>
                  <a:pt x="7684968" y="0"/>
                </a:moveTo>
                <a:lnTo>
                  <a:pt x="0" y="0"/>
                </a:lnTo>
                <a:lnTo>
                  <a:pt x="0" y="7684968"/>
                </a:lnTo>
                <a:lnTo>
                  <a:pt x="7684968" y="7684968"/>
                </a:lnTo>
                <a:lnTo>
                  <a:pt x="7684968"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5" name="Freeform 5"/>
          <p:cNvSpPr/>
          <p:nvPr/>
        </p:nvSpPr>
        <p:spPr>
          <a:xfrm flipH="1">
            <a:off x="-2020970" y="4706943"/>
            <a:ext cx="7684967" cy="7684967"/>
          </a:xfrm>
          <a:custGeom>
            <a:avLst/>
            <a:gdLst/>
            <a:ahLst/>
            <a:cxnLst/>
            <a:rect l="l" t="t" r="r" b="b"/>
            <a:pathLst>
              <a:path w="7684967" h="7684967">
                <a:moveTo>
                  <a:pt x="7684968" y="0"/>
                </a:moveTo>
                <a:lnTo>
                  <a:pt x="0" y="0"/>
                </a:lnTo>
                <a:lnTo>
                  <a:pt x="0" y="7684968"/>
                </a:lnTo>
                <a:lnTo>
                  <a:pt x="7684968" y="7684968"/>
                </a:lnTo>
                <a:lnTo>
                  <a:pt x="7684968"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6" name="Freeform 6"/>
          <p:cNvSpPr/>
          <p:nvPr/>
        </p:nvSpPr>
        <p:spPr>
          <a:xfrm rot="-176744" flipV="1">
            <a:off x="12281842" y="-3234705"/>
            <a:ext cx="6992792" cy="6992792"/>
          </a:xfrm>
          <a:custGeom>
            <a:avLst/>
            <a:gdLst/>
            <a:ahLst/>
            <a:cxnLst/>
            <a:rect l="l" t="t" r="r" b="b"/>
            <a:pathLst>
              <a:path w="6992792" h="6992792">
                <a:moveTo>
                  <a:pt x="0" y="6992792"/>
                </a:moveTo>
                <a:lnTo>
                  <a:pt x="6992792" y="6992792"/>
                </a:lnTo>
                <a:lnTo>
                  <a:pt x="6992792" y="0"/>
                </a:lnTo>
                <a:lnTo>
                  <a:pt x="0" y="0"/>
                </a:lnTo>
                <a:lnTo>
                  <a:pt x="0" y="6992792"/>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7" name="Freeform 7"/>
          <p:cNvSpPr/>
          <p:nvPr/>
        </p:nvSpPr>
        <p:spPr>
          <a:xfrm flipV="1">
            <a:off x="12348517" y="-3496396"/>
            <a:ext cx="6992792" cy="6992792"/>
          </a:xfrm>
          <a:custGeom>
            <a:avLst/>
            <a:gdLst/>
            <a:ahLst/>
            <a:cxnLst/>
            <a:rect l="l" t="t" r="r" b="b"/>
            <a:pathLst>
              <a:path w="6992792" h="6992792">
                <a:moveTo>
                  <a:pt x="0" y="6992792"/>
                </a:moveTo>
                <a:lnTo>
                  <a:pt x="6992792" y="6992792"/>
                </a:lnTo>
                <a:lnTo>
                  <a:pt x="6992792" y="0"/>
                </a:lnTo>
                <a:lnTo>
                  <a:pt x="0" y="0"/>
                </a:lnTo>
                <a:lnTo>
                  <a:pt x="0" y="6992792"/>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8" name="Freeform 8"/>
          <p:cNvSpPr/>
          <p:nvPr/>
        </p:nvSpPr>
        <p:spPr>
          <a:xfrm>
            <a:off x="4980643" y="-79433"/>
            <a:ext cx="8326714" cy="3234705"/>
          </a:xfrm>
          <a:custGeom>
            <a:avLst/>
            <a:gdLst/>
            <a:ahLst/>
            <a:cxnLst/>
            <a:rect l="l" t="t" r="r" b="b"/>
            <a:pathLst>
              <a:path w="8326714" h="3234705">
                <a:moveTo>
                  <a:pt x="0" y="0"/>
                </a:moveTo>
                <a:lnTo>
                  <a:pt x="8326714" y="0"/>
                </a:lnTo>
                <a:lnTo>
                  <a:pt x="8326714" y="3234705"/>
                </a:lnTo>
                <a:lnTo>
                  <a:pt x="0" y="3234705"/>
                </a:lnTo>
                <a:lnTo>
                  <a:pt x="0" y="0"/>
                </a:lnTo>
                <a:close/>
              </a:path>
            </a:pathLst>
          </a:custGeom>
          <a:blipFill>
            <a:blip r:embed="rId8"/>
            <a:stretch>
              <a:fillRect l="-8110" t="-526" r="-5947" b="-526"/>
            </a:stretch>
          </a:blipFill>
        </p:spPr>
      </p:sp>
      <p:sp>
        <p:nvSpPr>
          <p:cNvPr id="9" name="TextBox 9"/>
          <p:cNvSpPr txBox="1"/>
          <p:nvPr/>
        </p:nvSpPr>
        <p:spPr>
          <a:xfrm>
            <a:off x="6528797" y="3269572"/>
            <a:ext cx="5230406" cy="1193801"/>
          </a:xfrm>
          <a:prstGeom prst="rect">
            <a:avLst/>
          </a:prstGeom>
        </p:spPr>
        <p:txBody>
          <a:bodyPr lIns="0" tIns="0" rIns="0" bIns="0" rtlCol="0" anchor="t">
            <a:spAutoFit/>
          </a:bodyPr>
          <a:lstStyle/>
          <a:p>
            <a:pPr algn="ctr">
              <a:lnSpc>
                <a:spcPts val="9799"/>
              </a:lnSpc>
            </a:pPr>
            <a:r>
              <a:rPr lang="en-US" sz="6999" b="1">
                <a:solidFill>
                  <a:srgbClr val="3F3D3E"/>
                </a:solidFill>
                <a:latin typeface="Alexandria Bold"/>
                <a:ea typeface="Alexandria Bold"/>
                <a:cs typeface="Alexandria Bold"/>
                <a:sym typeface="Alexandria Bold"/>
              </a:rPr>
              <a:t>EDUPULSE</a:t>
            </a:r>
          </a:p>
        </p:txBody>
      </p:sp>
      <p:sp>
        <p:nvSpPr>
          <p:cNvPr id="10" name="TextBox 10"/>
          <p:cNvSpPr txBox="1"/>
          <p:nvPr/>
        </p:nvSpPr>
        <p:spPr>
          <a:xfrm>
            <a:off x="5785000" y="5076825"/>
            <a:ext cx="6718000" cy="4114956"/>
          </a:xfrm>
          <a:prstGeom prst="rect">
            <a:avLst/>
          </a:prstGeom>
        </p:spPr>
        <p:txBody>
          <a:bodyPr lIns="0" tIns="0" rIns="0" bIns="0" rtlCol="0" anchor="t">
            <a:spAutoFit/>
          </a:bodyPr>
          <a:lstStyle/>
          <a:p>
            <a:pPr algn="ctr">
              <a:lnSpc>
                <a:spcPts val="4716"/>
              </a:lnSpc>
            </a:pPr>
            <a:r>
              <a:rPr lang="en-US" sz="3368">
                <a:solidFill>
                  <a:srgbClr val="545454"/>
                </a:solidFill>
                <a:latin typeface="Alexandria"/>
                <a:ea typeface="Alexandria"/>
                <a:cs typeface="Alexandria"/>
                <a:sym typeface="Alexandria"/>
              </a:rPr>
              <a:t>Under the guidance of</a:t>
            </a:r>
          </a:p>
          <a:p>
            <a:pPr algn="ctr">
              <a:lnSpc>
                <a:spcPts val="4716"/>
              </a:lnSpc>
            </a:pPr>
            <a:r>
              <a:rPr lang="en-US" sz="3368">
                <a:solidFill>
                  <a:srgbClr val="545454"/>
                </a:solidFill>
                <a:latin typeface="Alexandria"/>
                <a:ea typeface="Alexandria"/>
                <a:cs typeface="Alexandria"/>
                <a:sym typeface="Alexandria"/>
              </a:rPr>
              <a:t>MR.CHAITANYA DAHALE SIR</a:t>
            </a:r>
          </a:p>
          <a:p>
            <a:pPr algn="ctr">
              <a:lnSpc>
                <a:spcPts val="4716"/>
              </a:lnSpc>
            </a:pPr>
            <a:endParaRPr lang="en-US" sz="3368">
              <a:solidFill>
                <a:srgbClr val="545454"/>
              </a:solidFill>
              <a:latin typeface="Alexandria"/>
              <a:ea typeface="Alexandria"/>
              <a:cs typeface="Alexandria"/>
              <a:sym typeface="Alexandria"/>
            </a:endParaRPr>
          </a:p>
          <a:p>
            <a:pPr algn="ctr">
              <a:lnSpc>
                <a:spcPts val="4716"/>
              </a:lnSpc>
            </a:pPr>
            <a:r>
              <a:rPr lang="en-US" sz="3368">
                <a:solidFill>
                  <a:srgbClr val="545454"/>
                </a:solidFill>
                <a:latin typeface="Alexandria"/>
                <a:ea typeface="Alexandria"/>
                <a:cs typeface="Alexandria"/>
                <a:sym typeface="Alexandria"/>
              </a:rPr>
              <a:t>By :</a:t>
            </a:r>
          </a:p>
          <a:p>
            <a:pPr algn="ctr">
              <a:lnSpc>
                <a:spcPts val="4716"/>
              </a:lnSpc>
            </a:pPr>
            <a:r>
              <a:rPr lang="en-US" sz="3368">
                <a:solidFill>
                  <a:srgbClr val="545454"/>
                </a:solidFill>
                <a:latin typeface="Alexandria"/>
                <a:ea typeface="Alexandria"/>
                <a:cs typeface="Alexandria"/>
                <a:sym typeface="Alexandria"/>
              </a:rPr>
              <a:t>OM THOMBARE</a:t>
            </a:r>
          </a:p>
          <a:p>
            <a:pPr algn="ctr">
              <a:lnSpc>
                <a:spcPts val="4716"/>
              </a:lnSpc>
            </a:pPr>
            <a:r>
              <a:rPr lang="en-US" sz="3368">
                <a:solidFill>
                  <a:srgbClr val="545454"/>
                </a:solidFill>
                <a:latin typeface="Alexandria"/>
                <a:ea typeface="Alexandria"/>
                <a:cs typeface="Alexandria"/>
                <a:sym typeface="Alexandria"/>
              </a:rPr>
              <a:t>SAMEER BHOR</a:t>
            </a:r>
          </a:p>
          <a:p>
            <a:pPr algn="ctr">
              <a:lnSpc>
                <a:spcPts val="4716"/>
              </a:lnSpc>
              <a:spcBef>
                <a:spcPct val="0"/>
              </a:spcBef>
            </a:pPr>
            <a:r>
              <a:rPr lang="en-US" sz="3368">
                <a:solidFill>
                  <a:srgbClr val="545454"/>
                </a:solidFill>
                <a:latin typeface="Alexandria"/>
                <a:ea typeface="Alexandria"/>
                <a:cs typeface="Alexandria"/>
                <a:sym typeface="Alexandria"/>
              </a:rPr>
              <a:t>RAMESH RATHOD</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E9E9E9"/>
        </a:solidFill>
        <a:effectLst/>
      </p:bgPr>
    </p:bg>
    <p:spTree>
      <p:nvGrpSpPr>
        <p:cNvPr id="1" name=""/>
        <p:cNvGrpSpPr/>
        <p:nvPr/>
      </p:nvGrpSpPr>
      <p:grpSpPr>
        <a:xfrm>
          <a:off x="0" y="0"/>
          <a:ext cx="0" cy="0"/>
          <a:chOff x="0" y="0"/>
          <a:chExt cx="0" cy="0"/>
        </a:xfrm>
      </p:grpSpPr>
      <p:sp>
        <p:nvSpPr>
          <p:cNvPr id="2" name="Freeform 2"/>
          <p:cNvSpPr/>
          <p:nvPr/>
        </p:nvSpPr>
        <p:spPr>
          <a:xfrm rot="5400000">
            <a:off x="-598671" y="-1743170"/>
            <a:ext cx="4840370" cy="6758253"/>
          </a:xfrm>
          <a:custGeom>
            <a:avLst/>
            <a:gdLst/>
            <a:ahLst/>
            <a:cxnLst/>
            <a:rect l="l" t="t" r="r" b="b"/>
            <a:pathLst>
              <a:path w="4840370" h="6758253">
                <a:moveTo>
                  <a:pt x="0" y="0"/>
                </a:moveTo>
                <a:lnTo>
                  <a:pt x="4840370" y="0"/>
                </a:lnTo>
                <a:lnTo>
                  <a:pt x="4840370" y="6758253"/>
                </a:lnTo>
                <a:lnTo>
                  <a:pt x="0" y="675825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TextBox 3"/>
          <p:cNvSpPr txBox="1"/>
          <p:nvPr/>
        </p:nvSpPr>
        <p:spPr>
          <a:xfrm>
            <a:off x="4541415" y="885825"/>
            <a:ext cx="9205169" cy="1260408"/>
          </a:xfrm>
          <a:prstGeom prst="rect">
            <a:avLst/>
          </a:prstGeom>
        </p:spPr>
        <p:txBody>
          <a:bodyPr lIns="0" tIns="0" rIns="0" bIns="0" rtlCol="0" anchor="t">
            <a:spAutoFit/>
          </a:bodyPr>
          <a:lstStyle/>
          <a:p>
            <a:pPr algn="ctr">
              <a:lnSpc>
                <a:spcPts val="10328"/>
              </a:lnSpc>
            </a:pPr>
            <a:r>
              <a:rPr lang="en-US" sz="7377" b="1">
                <a:solidFill>
                  <a:srgbClr val="3F3D3E"/>
                </a:solidFill>
                <a:latin typeface="Alexandria Bold"/>
                <a:ea typeface="Alexandria Bold"/>
                <a:cs typeface="Alexandria Bold"/>
                <a:sym typeface="Alexandria Bold"/>
              </a:rPr>
              <a:t>CONTENTS</a:t>
            </a:r>
          </a:p>
        </p:txBody>
      </p:sp>
      <p:sp>
        <p:nvSpPr>
          <p:cNvPr id="4" name="TextBox 4"/>
          <p:cNvSpPr txBox="1"/>
          <p:nvPr/>
        </p:nvSpPr>
        <p:spPr>
          <a:xfrm>
            <a:off x="5244660" y="2669480"/>
            <a:ext cx="7798680" cy="5803421"/>
          </a:xfrm>
          <a:prstGeom prst="rect">
            <a:avLst/>
          </a:prstGeom>
        </p:spPr>
        <p:txBody>
          <a:bodyPr lIns="0" tIns="0" rIns="0" bIns="0" rtlCol="0" anchor="t">
            <a:spAutoFit/>
          </a:bodyPr>
          <a:lstStyle/>
          <a:p>
            <a:pPr algn="ctr">
              <a:lnSpc>
                <a:spcPts val="4576"/>
              </a:lnSpc>
            </a:pPr>
            <a:r>
              <a:rPr lang="en-US" sz="3268">
                <a:solidFill>
                  <a:srgbClr val="545454"/>
                </a:solidFill>
                <a:latin typeface="Times New Roman"/>
                <a:ea typeface="Times New Roman"/>
                <a:cs typeface="Times New Roman"/>
                <a:sym typeface="Times New Roman"/>
              </a:rPr>
              <a:t>1.Introduction</a:t>
            </a:r>
          </a:p>
          <a:p>
            <a:pPr algn="ctr">
              <a:lnSpc>
                <a:spcPts val="4576"/>
              </a:lnSpc>
            </a:pPr>
            <a:r>
              <a:rPr lang="en-US" sz="3268">
                <a:solidFill>
                  <a:srgbClr val="545454"/>
                </a:solidFill>
                <a:latin typeface="Times New Roman"/>
                <a:ea typeface="Times New Roman"/>
                <a:cs typeface="Times New Roman"/>
                <a:sym typeface="Times New Roman"/>
              </a:rPr>
              <a:t>2.Problem Statement</a:t>
            </a:r>
          </a:p>
          <a:p>
            <a:pPr algn="ctr">
              <a:lnSpc>
                <a:spcPts val="4576"/>
              </a:lnSpc>
            </a:pPr>
            <a:r>
              <a:rPr lang="en-US" sz="3268">
                <a:solidFill>
                  <a:srgbClr val="545454"/>
                </a:solidFill>
                <a:latin typeface="Times New Roman"/>
                <a:ea typeface="Times New Roman"/>
                <a:cs typeface="Times New Roman"/>
                <a:sym typeface="Times New Roman"/>
              </a:rPr>
              <a:t>3.Technology Overview</a:t>
            </a:r>
          </a:p>
          <a:p>
            <a:pPr algn="ctr">
              <a:lnSpc>
                <a:spcPts val="4576"/>
              </a:lnSpc>
            </a:pPr>
            <a:r>
              <a:rPr lang="en-US" sz="3268">
                <a:solidFill>
                  <a:srgbClr val="545454"/>
                </a:solidFill>
                <a:latin typeface="Times New Roman"/>
                <a:ea typeface="Times New Roman"/>
                <a:cs typeface="Times New Roman"/>
                <a:sym typeface="Times New Roman"/>
              </a:rPr>
              <a:t>4.Dataset Information</a:t>
            </a:r>
          </a:p>
          <a:p>
            <a:pPr algn="ctr">
              <a:lnSpc>
                <a:spcPts val="4576"/>
              </a:lnSpc>
            </a:pPr>
            <a:r>
              <a:rPr lang="en-US" sz="3268">
                <a:solidFill>
                  <a:srgbClr val="545454"/>
                </a:solidFill>
                <a:latin typeface="Times New Roman"/>
                <a:ea typeface="Times New Roman"/>
                <a:cs typeface="Times New Roman"/>
                <a:sym typeface="Times New Roman"/>
              </a:rPr>
              <a:t>5.Exploratory Data Analysis</a:t>
            </a:r>
          </a:p>
          <a:p>
            <a:pPr algn="ctr">
              <a:lnSpc>
                <a:spcPts val="4576"/>
              </a:lnSpc>
            </a:pPr>
            <a:r>
              <a:rPr lang="en-US" sz="3268">
                <a:solidFill>
                  <a:srgbClr val="545454"/>
                </a:solidFill>
                <a:latin typeface="Times New Roman"/>
                <a:ea typeface="Times New Roman"/>
                <a:cs typeface="Times New Roman"/>
                <a:sym typeface="Times New Roman"/>
              </a:rPr>
              <a:t>6.Feature selection and Model Comparision</a:t>
            </a:r>
          </a:p>
          <a:p>
            <a:pPr algn="ctr">
              <a:lnSpc>
                <a:spcPts val="4576"/>
              </a:lnSpc>
            </a:pPr>
            <a:r>
              <a:rPr lang="en-US" sz="3268">
                <a:solidFill>
                  <a:srgbClr val="545454"/>
                </a:solidFill>
                <a:latin typeface="Times New Roman"/>
                <a:ea typeface="Times New Roman"/>
                <a:cs typeface="Times New Roman"/>
                <a:sym typeface="Times New Roman"/>
              </a:rPr>
              <a:t>7.Model Evaluation Results</a:t>
            </a:r>
          </a:p>
          <a:p>
            <a:pPr algn="ctr">
              <a:lnSpc>
                <a:spcPts val="4576"/>
              </a:lnSpc>
            </a:pPr>
            <a:r>
              <a:rPr lang="en-US" sz="3268">
                <a:solidFill>
                  <a:srgbClr val="545454"/>
                </a:solidFill>
                <a:latin typeface="Times New Roman"/>
                <a:ea typeface="Times New Roman"/>
                <a:cs typeface="Times New Roman"/>
                <a:sym typeface="Times New Roman"/>
              </a:rPr>
              <a:t>8.Key Insights &amp; Result Analysis</a:t>
            </a:r>
          </a:p>
          <a:p>
            <a:pPr algn="ctr">
              <a:lnSpc>
                <a:spcPts val="4576"/>
              </a:lnSpc>
            </a:pPr>
            <a:r>
              <a:rPr lang="en-US" sz="3268">
                <a:solidFill>
                  <a:srgbClr val="545454"/>
                </a:solidFill>
                <a:latin typeface="Times New Roman"/>
                <a:ea typeface="Times New Roman"/>
                <a:cs typeface="Times New Roman"/>
                <a:sym typeface="Times New Roman"/>
              </a:rPr>
              <a:t>9.Conclusion &amp; Future Directions </a:t>
            </a:r>
          </a:p>
          <a:p>
            <a:pPr algn="just">
              <a:lnSpc>
                <a:spcPts val="4576"/>
              </a:lnSpc>
              <a:spcBef>
                <a:spcPct val="0"/>
              </a:spcBef>
            </a:pPr>
            <a:endParaRPr lang="en-US" sz="3268">
              <a:solidFill>
                <a:srgbClr val="545454"/>
              </a:solidFill>
              <a:latin typeface="Times New Roman"/>
              <a:ea typeface="Times New Roman"/>
              <a:cs typeface="Times New Roman"/>
              <a:sym typeface="Times New Roman"/>
            </a:endParaRPr>
          </a:p>
        </p:txBody>
      </p:sp>
      <p:sp>
        <p:nvSpPr>
          <p:cNvPr id="5" name="Freeform 5"/>
          <p:cNvSpPr/>
          <p:nvPr/>
        </p:nvSpPr>
        <p:spPr>
          <a:xfrm rot="-574333">
            <a:off x="-598671" y="5498906"/>
            <a:ext cx="4840370" cy="6758253"/>
          </a:xfrm>
          <a:custGeom>
            <a:avLst/>
            <a:gdLst/>
            <a:ahLst/>
            <a:cxnLst/>
            <a:rect l="l" t="t" r="r" b="b"/>
            <a:pathLst>
              <a:path w="4840370" h="6758253">
                <a:moveTo>
                  <a:pt x="0" y="0"/>
                </a:moveTo>
                <a:lnTo>
                  <a:pt x="4840370" y="0"/>
                </a:lnTo>
                <a:lnTo>
                  <a:pt x="4840370" y="6758253"/>
                </a:lnTo>
                <a:lnTo>
                  <a:pt x="0" y="6758253"/>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E9E9E9"/>
        </a:solidFill>
        <a:effectLst/>
      </p:bgPr>
    </p:bg>
    <p:spTree>
      <p:nvGrpSpPr>
        <p:cNvPr id="1" name=""/>
        <p:cNvGrpSpPr/>
        <p:nvPr/>
      </p:nvGrpSpPr>
      <p:grpSpPr>
        <a:xfrm>
          <a:off x="0" y="0"/>
          <a:ext cx="0" cy="0"/>
          <a:chOff x="0" y="0"/>
          <a:chExt cx="0" cy="0"/>
        </a:xfrm>
      </p:grpSpPr>
      <p:sp>
        <p:nvSpPr>
          <p:cNvPr id="2" name="Freeform 2"/>
          <p:cNvSpPr/>
          <p:nvPr/>
        </p:nvSpPr>
        <p:spPr>
          <a:xfrm rot="5400000">
            <a:off x="-598671" y="-1743170"/>
            <a:ext cx="4840370" cy="6758253"/>
          </a:xfrm>
          <a:custGeom>
            <a:avLst/>
            <a:gdLst/>
            <a:ahLst/>
            <a:cxnLst/>
            <a:rect l="l" t="t" r="r" b="b"/>
            <a:pathLst>
              <a:path w="4840370" h="6758253">
                <a:moveTo>
                  <a:pt x="0" y="0"/>
                </a:moveTo>
                <a:lnTo>
                  <a:pt x="4840370" y="0"/>
                </a:lnTo>
                <a:lnTo>
                  <a:pt x="4840370" y="6758253"/>
                </a:lnTo>
                <a:lnTo>
                  <a:pt x="0" y="675825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TextBox 3"/>
          <p:cNvSpPr txBox="1"/>
          <p:nvPr/>
        </p:nvSpPr>
        <p:spPr>
          <a:xfrm>
            <a:off x="2043210" y="2203690"/>
            <a:ext cx="14699282" cy="5803421"/>
          </a:xfrm>
          <a:prstGeom prst="rect">
            <a:avLst/>
          </a:prstGeom>
        </p:spPr>
        <p:txBody>
          <a:bodyPr lIns="0" tIns="0" rIns="0" bIns="0" rtlCol="0" anchor="t">
            <a:spAutoFit/>
          </a:bodyPr>
          <a:lstStyle/>
          <a:p>
            <a:pPr algn="ctr">
              <a:lnSpc>
                <a:spcPts val="4576"/>
              </a:lnSpc>
            </a:pPr>
            <a:r>
              <a:rPr lang="en-US" sz="3268" b="1">
                <a:solidFill>
                  <a:srgbClr val="545454"/>
                </a:solidFill>
                <a:latin typeface="Times New Roman Bold"/>
                <a:ea typeface="Times New Roman Bold"/>
                <a:cs typeface="Times New Roman Bold"/>
                <a:sym typeface="Times New Roman Bold"/>
              </a:rPr>
              <a:t>EduPulse</a:t>
            </a:r>
          </a:p>
          <a:p>
            <a:pPr algn="l">
              <a:lnSpc>
                <a:spcPts val="4576"/>
              </a:lnSpc>
            </a:pPr>
            <a:r>
              <a:rPr lang="en-US" sz="3268">
                <a:solidFill>
                  <a:srgbClr val="545454"/>
                </a:solidFill>
                <a:latin typeface="Times New Roman"/>
                <a:ea typeface="Times New Roman"/>
                <a:cs typeface="Times New Roman"/>
                <a:sym typeface="Times New Roman"/>
              </a:rPr>
              <a:t>-Tracking the heartbeat of academic performance</a:t>
            </a:r>
          </a:p>
          <a:p>
            <a:pPr marL="705747" lvl="1" indent="-352873" algn="l">
              <a:lnSpc>
                <a:spcPts val="4576"/>
              </a:lnSpc>
              <a:buAutoNum type="arabicPeriod"/>
            </a:pPr>
            <a:r>
              <a:rPr lang="en-US" sz="3268">
                <a:solidFill>
                  <a:srgbClr val="545454"/>
                </a:solidFill>
                <a:latin typeface="Times New Roman"/>
                <a:ea typeface="Times New Roman"/>
                <a:cs typeface="Times New Roman"/>
                <a:sym typeface="Times New Roman"/>
              </a:rPr>
              <a:t>Education systems often struggle to identify students who may underperform until final   results are declared. Traditional evaluation methods rely heavily on manual observation and periodic assessments, which may delay timely academic intervention.</a:t>
            </a:r>
          </a:p>
          <a:p>
            <a:pPr marL="705747" lvl="1" indent="-352873" algn="l">
              <a:lnSpc>
                <a:spcPts val="4576"/>
              </a:lnSpc>
              <a:buAutoNum type="arabicPeriod"/>
            </a:pPr>
            <a:r>
              <a:rPr lang="en-US" sz="3268">
                <a:solidFill>
                  <a:srgbClr val="545454"/>
                </a:solidFill>
                <a:latin typeface="Times New Roman"/>
                <a:ea typeface="Times New Roman"/>
                <a:cs typeface="Times New Roman"/>
                <a:sym typeface="Times New Roman"/>
              </a:rPr>
              <a:t>This project applies machine learning techniques to analyze student academic, behavioral, and social attributes to predict final grades (G3). The objective is to assist educators in identifying students who may require early support, thereby improving learning outcomes.</a:t>
            </a:r>
          </a:p>
        </p:txBody>
      </p:sp>
      <p:sp>
        <p:nvSpPr>
          <p:cNvPr id="4" name="TextBox 4"/>
          <p:cNvSpPr txBox="1"/>
          <p:nvPr/>
        </p:nvSpPr>
        <p:spPr>
          <a:xfrm>
            <a:off x="4541415" y="895350"/>
            <a:ext cx="9205169" cy="1193800"/>
          </a:xfrm>
          <a:prstGeom prst="rect">
            <a:avLst/>
          </a:prstGeom>
        </p:spPr>
        <p:txBody>
          <a:bodyPr lIns="0" tIns="0" rIns="0" bIns="0" rtlCol="0" anchor="t">
            <a:spAutoFit/>
          </a:bodyPr>
          <a:lstStyle/>
          <a:p>
            <a:pPr algn="ctr">
              <a:lnSpc>
                <a:spcPts val="9799"/>
              </a:lnSpc>
            </a:pPr>
            <a:r>
              <a:rPr lang="en-US" sz="6999" b="1">
                <a:solidFill>
                  <a:srgbClr val="3F3D3E"/>
                </a:solidFill>
                <a:latin typeface="Alexandria Bold"/>
                <a:ea typeface="Alexandria Bold"/>
                <a:cs typeface="Alexandria Bold"/>
                <a:sym typeface="Alexandria Bold"/>
              </a:rPr>
              <a:t>INTRODUCTION</a:t>
            </a:r>
          </a:p>
        </p:txBody>
      </p:sp>
      <p:sp>
        <p:nvSpPr>
          <p:cNvPr id="5" name="Freeform 5"/>
          <p:cNvSpPr/>
          <p:nvPr/>
        </p:nvSpPr>
        <p:spPr>
          <a:xfrm rot="-574333">
            <a:off x="-376975" y="5441077"/>
            <a:ext cx="4840370" cy="6758253"/>
          </a:xfrm>
          <a:custGeom>
            <a:avLst/>
            <a:gdLst/>
            <a:ahLst/>
            <a:cxnLst/>
            <a:rect l="l" t="t" r="r" b="b"/>
            <a:pathLst>
              <a:path w="4840370" h="6758253">
                <a:moveTo>
                  <a:pt x="0" y="0"/>
                </a:moveTo>
                <a:lnTo>
                  <a:pt x="4840371" y="0"/>
                </a:lnTo>
                <a:lnTo>
                  <a:pt x="4840371" y="6758253"/>
                </a:lnTo>
                <a:lnTo>
                  <a:pt x="0" y="6758253"/>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E9E9E9"/>
        </a:solidFill>
        <a:effectLst/>
      </p:bgPr>
    </p:bg>
    <p:spTree>
      <p:nvGrpSpPr>
        <p:cNvPr id="1" name=""/>
        <p:cNvGrpSpPr/>
        <p:nvPr/>
      </p:nvGrpSpPr>
      <p:grpSpPr>
        <a:xfrm>
          <a:off x="0" y="0"/>
          <a:ext cx="0" cy="0"/>
          <a:chOff x="0" y="0"/>
          <a:chExt cx="0" cy="0"/>
        </a:xfrm>
      </p:grpSpPr>
      <p:sp>
        <p:nvSpPr>
          <p:cNvPr id="2" name="Freeform 2"/>
          <p:cNvSpPr/>
          <p:nvPr/>
        </p:nvSpPr>
        <p:spPr>
          <a:xfrm rot="5400000">
            <a:off x="-598671" y="-1743170"/>
            <a:ext cx="4840370" cy="6758253"/>
          </a:xfrm>
          <a:custGeom>
            <a:avLst/>
            <a:gdLst/>
            <a:ahLst/>
            <a:cxnLst/>
            <a:rect l="l" t="t" r="r" b="b"/>
            <a:pathLst>
              <a:path w="4840370" h="6758253">
                <a:moveTo>
                  <a:pt x="0" y="0"/>
                </a:moveTo>
                <a:lnTo>
                  <a:pt x="4840370" y="0"/>
                </a:lnTo>
                <a:lnTo>
                  <a:pt x="4840370" y="6758253"/>
                </a:lnTo>
                <a:lnTo>
                  <a:pt x="0" y="675825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TextBox 3"/>
          <p:cNvSpPr txBox="1"/>
          <p:nvPr/>
        </p:nvSpPr>
        <p:spPr>
          <a:xfrm>
            <a:off x="3482451" y="885825"/>
            <a:ext cx="11323097" cy="1220403"/>
          </a:xfrm>
          <a:prstGeom prst="rect">
            <a:avLst/>
          </a:prstGeom>
        </p:spPr>
        <p:txBody>
          <a:bodyPr lIns="0" tIns="0" rIns="0" bIns="0" rtlCol="0" anchor="t">
            <a:spAutoFit/>
          </a:bodyPr>
          <a:lstStyle/>
          <a:p>
            <a:pPr algn="ctr">
              <a:lnSpc>
                <a:spcPts val="9908"/>
              </a:lnSpc>
            </a:pPr>
            <a:r>
              <a:rPr lang="en-US" sz="7077" b="1">
                <a:solidFill>
                  <a:srgbClr val="3F3D3E"/>
                </a:solidFill>
                <a:latin typeface="Alexandria Bold"/>
                <a:ea typeface="Alexandria Bold"/>
                <a:cs typeface="Alexandria Bold"/>
                <a:sym typeface="Alexandria Bold"/>
              </a:rPr>
              <a:t>PROBLEM STATEMENT</a:t>
            </a:r>
          </a:p>
        </p:txBody>
      </p:sp>
      <p:sp>
        <p:nvSpPr>
          <p:cNvPr id="4" name="TextBox 4"/>
          <p:cNvSpPr txBox="1"/>
          <p:nvPr/>
        </p:nvSpPr>
        <p:spPr>
          <a:xfrm>
            <a:off x="1931535" y="2319896"/>
            <a:ext cx="14424930" cy="4641371"/>
          </a:xfrm>
          <a:prstGeom prst="rect">
            <a:avLst/>
          </a:prstGeom>
        </p:spPr>
        <p:txBody>
          <a:bodyPr lIns="0" tIns="0" rIns="0" bIns="0" rtlCol="0" anchor="t">
            <a:spAutoFit/>
          </a:bodyPr>
          <a:lstStyle/>
          <a:p>
            <a:pPr algn="l">
              <a:lnSpc>
                <a:spcPts val="4576"/>
              </a:lnSpc>
            </a:pPr>
            <a:r>
              <a:rPr lang="en-US" sz="3268">
                <a:solidFill>
                  <a:srgbClr val="545454"/>
                </a:solidFill>
                <a:latin typeface="Times New Roman"/>
                <a:ea typeface="Times New Roman"/>
                <a:cs typeface="Times New Roman"/>
                <a:sym typeface="Times New Roman"/>
              </a:rPr>
              <a:t>Manual assessment methods are time-consuming, subjective, and reactive rather than proactive. By using data-driven models, we can predict academic performance early, allowing timely academic intervention.</a:t>
            </a:r>
          </a:p>
          <a:p>
            <a:pPr algn="l">
              <a:lnSpc>
                <a:spcPts val="4576"/>
              </a:lnSpc>
            </a:pPr>
            <a:endParaRPr lang="en-US" sz="3268">
              <a:solidFill>
                <a:srgbClr val="545454"/>
              </a:solidFill>
              <a:latin typeface="Times New Roman"/>
              <a:ea typeface="Times New Roman"/>
              <a:cs typeface="Times New Roman"/>
              <a:sym typeface="Times New Roman"/>
            </a:endParaRPr>
          </a:p>
          <a:p>
            <a:pPr algn="l">
              <a:lnSpc>
                <a:spcPts val="4576"/>
              </a:lnSpc>
            </a:pPr>
            <a:r>
              <a:rPr lang="en-US" sz="3268" b="1">
                <a:solidFill>
                  <a:srgbClr val="545454"/>
                </a:solidFill>
                <a:latin typeface="Times New Roman Bold"/>
                <a:ea typeface="Times New Roman Bold"/>
                <a:cs typeface="Times New Roman Bold"/>
                <a:sym typeface="Times New Roman Bold"/>
              </a:rPr>
              <a:t>PROJECT GOAL :</a:t>
            </a:r>
            <a:r>
              <a:rPr lang="en-US" sz="3268">
                <a:solidFill>
                  <a:srgbClr val="545454"/>
                </a:solidFill>
                <a:latin typeface="Times New Roman"/>
                <a:ea typeface="Times New Roman"/>
                <a:cs typeface="Times New Roman"/>
                <a:sym typeface="Times New Roman"/>
              </a:rPr>
              <a:t>To develop a machine learning model that accurately predicts a student's final grade (G3) based on historical academic performance and related factors.</a:t>
            </a:r>
          </a:p>
          <a:p>
            <a:pPr algn="ctr">
              <a:lnSpc>
                <a:spcPts val="4576"/>
              </a:lnSpc>
              <a:spcBef>
                <a:spcPct val="0"/>
              </a:spcBef>
            </a:pPr>
            <a:endParaRPr lang="en-US" sz="3268">
              <a:solidFill>
                <a:srgbClr val="545454"/>
              </a:solidFill>
              <a:latin typeface="Times New Roman"/>
              <a:ea typeface="Times New Roman"/>
              <a:cs typeface="Times New Roman"/>
              <a:sym typeface="Times New Roman"/>
            </a:endParaRPr>
          </a:p>
        </p:txBody>
      </p:sp>
      <p:sp>
        <p:nvSpPr>
          <p:cNvPr id="5" name="Freeform 5"/>
          <p:cNvSpPr/>
          <p:nvPr/>
        </p:nvSpPr>
        <p:spPr>
          <a:xfrm rot="-574333">
            <a:off x="-598671" y="5498906"/>
            <a:ext cx="4840370" cy="6758253"/>
          </a:xfrm>
          <a:custGeom>
            <a:avLst/>
            <a:gdLst/>
            <a:ahLst/>
            <a:cxnLst/>
            <a:rect l="l" t="t" r="r" b="b"/>
            <a:pathLst>
              <a:path w="4840370" h="6758253">
                <a:moveTo>
                  <a:pt x="0" y="0"/>
                </a:moveTo>
                <a:lnTo>
                  <a:pt x="4840370" y="0"/>
                </a:lnTo>
                <a:lnTo>
                  <a:pt x="4840370" y="6758253"/>
                </a:lnTo>
                <a:lnTo>
                  <a:pt x="0" y="6758253"/>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E9E9E9"/>
        </a:solidFill>
        <a:effectLst/>
      </p:bgPr>
    </p:bg>
    <p:spTree>
      <p:nvGrpSpPr>
        <p:cNvPr id="1" name=""/>
        <p:cNvGrpSpPr/>
        <p:nvPr/>
      </p:nvGrpSpPr>
      <p:grpSpPr>
        <a:xfrm>
          <a:off x="0" y="0"/>
          <a:ext cx="0" cy="0"/>
          <a:chOff x="0" y="0"/>
          <a:chExt cx="0" cy="0"/>
        </a:xfrm>
      </p:grpSpPr>
      <p:sp>
        <p:nvSpPr>
          <p:cNvPr id="2" name="Freeform 2"/>
          <p:cNvSpPr/>
          <p:nvPr/>
        </p:nvSpPr>
        <p:spPr>
          <a:xfrm rot="5400000">
            <a:off x="-1048584" y="-2101640"/>
            <a:ext cx="4840370" cy="6758253"/>
          </a:xfrm>
          <a:custGeom>
            <a:avLst/>
            <a:gdLst/>
            <a:ahLst/>
            <a:cxnLst/>
            <a:rect l="l" t="t" r="r" b="b"/>
            <a:pathLst>
              <a:path w="4840370" h="6758253">
                <a:moveTo>
                  <a:pt x="0" y="0"/>
                </a:moveTo>
                <a:lnTo>
                  <a:pt x="4840370" y="0"/>
                </a:lnTo>
                <a:lnTo>
                  <a:pt x="4840370" y="6758253"/>
                </a:lnTo>
                <a:lnTo>
                  <a:pt x="0" y="675825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TextBox 3"/>
          <p:cNvSpPr txBox="1"/>
          <p:nvPr/>
        </p:nvSpPr>
        <p:spPr>
          <a:xfrm>
            <a:off x="3370893" y="972382"/>
            <a:ext cx="12086454" cy="1164293"/>
          </a:xfrm>
          <a:prstGeom prst="rect">
            <a:avLst/>
          </a:prstGeom>
        </p:spPr>
        <p:txBody>
          <a:bodyPr lIns="0" tIns="0" rIns="0" bIns="0" rtlCol="0" anchor="t">
            <a:spAutoFit/>
          </a:bodyPr>
          <a:lstStyle/>
          <a:p>
            <a:pPr algn="ctr">
              <a:lnSpc>
                <a:spcPts val="9799"/>
              </a:lnSpc>
            </a:pPr>
            <a:r>
              <a:rPr lang="en-US" sz="6999" b="1" dirty="0">
                <a:solidFill>
                  <a:srgbClr val="3F3D3E"/>
                </a:solidFill>
                <a:latin typeface="Alexandria Bold"/>
                <a:ea typeface="Alexandria Bold"/>
                <a:cs typeface="Alexandria Bold"/>
                <a:sym typeface="Alexandria Bold"/>
              </a:rPr>
              <a:t>TECHNOLOGY OVERVIEW </a:t>
            </a:r>
          </a:p>
        </p:txBody>
      </p:sp>
      <p:sp>
        <p:nvSpPr>
          <p:cNvPr id="4" name="TextBox 4"/>
          <p:cNvSpPr txBox="1"/>
          <p:nvPr/>
        </p:nvSpPr>
        <p:spPr>
          <a:xfrm>
            <a:off x="1371600" y="2077573"/>
            <a:ext cx="16687800" cy="7619522"/>
          </a:xfrm>
          <a:prstGeom prst="rect">
            <a:avLst/>
          </a:prstGeom>
        </p:spPr>
        <p:txBody>
          <a:bodyPr wrap="square" lIns="0" tIns="0" rIns="0" bIns="0" rtlCol="0" anchor="t">
            <a:spAutoFit/>
          </a:bodyPr>
          <a:lstStyle/>
          <a:p>
            <a:pPr marL="352874" lvl="1">
              <a:lnSpc>
                <a:spcPts val="4576"/>
              </a:lnSpc>
            </a:pPr>
            <a:r>
              <a:rPr lang="en-US" sz="2800" dirty="0" err="1">
                <a:solidFill>
                  <a:srgbClr val="545454"/>
                </a:solidFill>
                <a:latin typeface="Times New Roman"/>
                <a:ea typeface="Times New Roman"/>
                <a:cs typeface="Times New Roman"/>
                <a:sym typeface="Times New Roman"/>
              </a:rPr>
              <a:t>EduPulse</a:t>
            </a:r>
            <a:r>
              <a:rPr lang="en-US" sz="2800" dirty="0">
                <a:solidFill>
                  <a:srgbClr val="545454"/>
                </a:solidFill>
                <a:latin typeface="Times New Roman"/>
                <a:ea typeface="Times New Roman"/>
                <a:cs typeface="Times New Roman"/>
                <a:sym typeface="Times New Roman"/>
              </a:rPr>
              <a:t> is developed using modern Python-based technologies combined with Data Science and Machine Learning to analyze and predict student academic performance effectively.</a:t>
            </a:r>
          </a:p>
          <a:p>
            <a:pPr marL="352874" lvl="1">
              <a:lnSpc>
                <a:spcPts val="4576"/>
              </a:lnSpc>
            </a:pPr>
            <a:r>
              <a:rPr lang="en-US" sz="2800" dirty="0">
                <a:solidFill>
                  <a:srgbClr val="545454"/>
                </a:solidFill>
                <a:latin typeface="Times New Roman"/>
                <a:ea typeface="Times New Roman"/>
                <a:cs typeface="Times New Roman"/>
                <a:sym typeface="Times New Roman"/>
              </a:rPr>
              <a:t>Flask (Python) used for building a lightweight and scalable web application</a:t>
            </a:r>
          </a:p>
          <a:p>
            <a:pPr marL="352874" lvl="1">
              <a:lnSpc>
                <a:spcPts val="4576"/>
              </a:lnSpc>
            </a:pPr>
            <a:r>
              <a:rPr lang="en-US" sz="2800" dirty="0">
                <a:solidFill>
                  <a:srgbClr val="545454"/>
                </a:solidFill>
                <a:latin typeface="Times New Roman"/>
                <a:ea typeface="Times New Roman"/>
                <a:cs typeface="Times New Roman"/>
                <a:sym typeface="Times New Roman"/>
              </a:rPr>
              <a:t>Handles user requests, data processing, and ML model </a:t>
            </a:r>
            <a:r>
              <a:rPr lang="en-US" sz="2800" dirty="0" err="1">
                <a:solidFill>
                  <a:srgbClr val="545454"/>
                </a:solidFill>
                <a:latin typeface="Times New Roman"/>
                <a:ea typeface="Times New Roman"/>
                <a:cs typeface="Times New Roman"/>
                <a:sym typeface="Times New Roman"/>
              </a:rPr>
              <a:t>integratio</a:t>
            </a:r>
            <a:endParaRPr lang="en-US" sz="2800" dirty="0">
              <a:solidFill>
                <a:srgbClr val="545454"/>
              </a:solidFill>
              <a:latin typeface="Times New Roman"/>
              <a:ea typeface="Times New Roman"/>
              <a:cs typeface="Times New Roman"/>
              <a:sym typeface="Times New Roman"/>
            </a:endParaRPr>
          </a:p>
          <a:p>
            <a:pPr marL="352874" lvl="1">
              <a:lnSpc>
                <a:spcPts val="4576"/>
              </a:lnSpc>
            </a:pPr>
            <a:r>
              <a:rPr lang="en-US" sz="2800" dirty="0">
                <a:solidFill>
                  <a:srgbClr val="545454"/>
                </a:solidFill>
                <a:latin typeface="Times New Roman"/>
                <a:ea typeface="Times New Roman"/>
                <a:cs typeface="Times New Roman"/>
                <a:sym typeface="Times New Roman"/>
              </a:rPr>
              <a:t>RESTful APIs for seamless frontend–backend communication</a:t>
            </a:r>
          </a:p>
          <a:p>
            <a:pPr marL="352874" lvl="1">
              <a:lnSpc>
                <a:spcPts val="4576"/>
              </a:lnSpc>
            </a:pPr>
            <a:r>
              <a:rPr lang="en-US" sz="2800" b="1" dirty="0">
                <a:solidFill>
                  <a:srgbClr val="545454"/>
                </a:solidFill>
                <a:latin typeface="Times New Roman"/>
                <a:ea typeface="Times New Roman"/>
                <a:cs typeface="Times New Roman"/>
                <a:sym typeface="Times New Roman"/>
              </a:rPr>
              <a:t>Data Science</a:t>
            </a:r>
          </a:p>
          <a:p>
            <a:pPr marL="352874" lvl="1">
              <a:lnSpc>
                <a:spcPts val="4576"/>
              </a:lnSpc>
            </a:pPr>
            <a:r>
              <a:rPr lang="en-US" sz="2800" dirty="0">
                <a:solidFill>
                  <a:srgbClr val="545454"/>
                </a:solidFill>
                <a:latin typeface="Times New Roman"/>
                <a:ea typeface="Times New Roman"/>
                <a:cs typeface="Times New Roman"/>
                <a:sym typeface="Times New Roman"/>
              </a:rPr>
              <a:t>Data collection and preprocessing using Python libraries</a:t>
            </a:r>
          </a:p>
          <a:p>
            <a:pPr marL="352874" lvl="1">
              <a:lnSpc>
                <a:spcPts val="4576"/>
              </a:lnSpc>
            </a:pPr>
            <a:r>
              <a:rPr lang="en-US" sz="2800" dirty="0">
                <a:solidFill>
                  <a:srgbClr val="545454"/>
                </a:solidFill>
                <a:latin typeface="Times New Roman"/>
                <a:ea typeface="Times New Roman"/>
                <a:cs typeface="Times New Roman"/>
                <a:sym typeface="Times New Roman"/>
              </a:rPr>
              <a:t>Exploratory Data Analysis (EDA) to identify patterns in student performance</a:t>
            </a:r>
          </a:p>
          <a:p>
            <a:pPr marL="352874" lvl="1">
              <a:lnSpc>
                <a:spcPts val="4576"/>
              </a:lnSpc>
            </a:pPr>
            <a:r>
              <a:rPr lang="en-US" sz="2800" dirty="0">
                <a:solidFill>
                  <a:srgbClr val="545454"/>
                </a:solidFill>
                <a:latin typeface="Times New Roman"/>
                <a:ea typeface="Times New Roman"/>
                <a:cs typeface="Times New Roman"/>
                <a:sym typeface="Times New Roman"/>
              </a:rPr>
              <a:t>Feature engineering to improve prediction accuracy</a:t>
            </a:r>
          </a:p>
          <a:p>
            <a:pPr marL="352874" lvl="1">
              <a:lnSpc>
                <a:spcPts val="4576"/>
              </a:lnSpc>
            </a:pPr>
            <a:r>
              <a:rPr lang="en-US" sz="2800" b="1" dirty="0">
                <a:solidFill>
                  <a:srgbClr val="545454"/>
                </a:solidFill>
                <a:latin typeface="Times New Roman"/>
                <a:ea typeface="Times New Roman"/>
                <a:cs typeface="Times New Roman"/>
                <a:sym typeface="Times New Roman"/>
              </a:rPr>
              <a:t>Machine Learning</a:t>
            </a:r>
          </a:p>
          <a:p>
            <a:pPr marL="352874" lvl="1">
              <a:lnSpc>
                <a:spcPts val="4576"/>
              </a:lnSpc>
            </a:pPr>
            <a:r>
              <a:rPr lang="en-US" sz="2800" dirty="0">
                <a:solidFill>
                  <a:srgbClr val="545454"/>
                </a:solidFill>
                <a:latin typeface="Times New Roman"/>
                <a:ea typeface="Times New Roman"/>
                <a:cs typeface="Times New Roman"/>
                <a:sym typeface="Times New Roman"/>
              </a:rPr>
              <a:t>ML algorithms used to predict final grades and performance trends</a:t>
            </a:r>
          </a:p>
          <a:p>
            <a:pPr marL="352874" lvl="1">
              <a:lnSpc>
                <a:spcPts val="4576"/>
              </a:lnSpc>
            </a:pPr>
            <a:r>
              <a:rPr lang="en-US" sz="2800" dirty="0">
                <a:solidFill>
                  <a:srgbClr val="545454"/>
                </a:solidFill>
                <a:latin typeface="Times New Roman"/>
                <a:ea typeface="Times New Roman"/>
                <a:cs typeface="Times New Roman"/>
                <a:sym typeface="Times New Roman"/>
              </a:rPr>
              <a:t>Models trained on historical academic data</a:t>
            </a:r>
          </a:p>
          <a:p>
            <a:pPr marL="352874" lvl="1">
              <a:lnSpc>
                <a:spcPts val="4576"/>
              </a:lnSpc>
            </a:pPr>
            <a:r>
              <a:rPr lang="en-US" sz="2800" dirty="0">
                <a:solidFill>
                  <a:srgbClr val="545454"/>
                </a:solidFill>
                <a:latin typeface="Times New Roman"/>
                <a:ea typeface="Times New Roman"/>
                <a:cs typeface="Times New Roman"/>
                <a:sym typeface="Times New Roman"/>
              </a:rPr>
              <a:t>Enables early identification of at-risk students</a:t>
            </a:r>
          </a:p>
        </p:txBody>
      </p:sp>
      <p:sp>
        <p:nvSpPr>
          <p:cNvPr id="6" name="Freeform 6"/>
          <p:cNvSpPr/>
          <p:nvPr/>
        </p:nvSpPr>
        <p:spPr>
          <a:xfrm rot="-574333">
            <a:off x="-843380" y="5803707"/>
            <a:ext cx="4840370" cy="6758253"/>
          </a:xfrm>
          <a:custGeom>
            <a:avLst/>
            <a:gdLst/>
            <a:ahLst/>
            <a:cxnLst/>
            <a:rect l="l" t="t" r="r" b="b"/>
            <a:pathLst>
              <a:path w="4840370" h="6758253">
                <a:moveTo>
                  <a:pt x="0" y="0"/>
                </a:moveTo>
                <a:lnTo>
                  <a:pt x="4840370" y="0"/>
                </a:lnTo>
                <a:lnTo>
                  <a:pt x="4840370" y="6758253"/>
                </a:lnTo>
                <a:lnTo>
                  <a:pt x="0" y="6758253"/>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E9E9E9"/>
        </a:solidFill>
        <a:effectLst/>
      </p:bgPr>
    </p:bg>
    <p:spTree>
      <p:nvGrpSpPr>
        <p:cNvPr id="1" name=""/>
        <p:cNvGrpSpPr/>
        <p:nvPr/>
      </p:nvGrpSpPr>
      <p:grpSpPr>
        <a:xfrm>
          <a:off x="0" y="0"/>
          <a:ext cx="0" cy="0"/>
          <a:chOff x="0" y="0"/>
          <a:chExt cx="0" cy="0"/>
        </a:xfrm>
      </p:grpSpPr>
      <p:sp>
        <p:nvSpPr>
          <p:cNvPr id="2" name="Freeform 2"/>
          <p:cNvSpPr/>
          <p:nvPr/>
        </p:nvSpPr>
        <p:spPr>
          <a:xfrm rot="5400000">
            <a:off x="-598671" y="-1743170"/>
            <a:ext cx="4840370" cy="6758253"/>
          </a:xfrm>
          <a:custGeom>
            <a:avLst/>
            <a:gdLst/>
            <a:ahLst/>
            <a:cxnLst/>
            <a:rect l="l" t="t" r="r" b="b"/>
            <a:pathLst>
              <a:path w="4840370" h="6758253">
                <a:moveTo>
                  <a:pt x="0" y="0"/>
                </a:moveTo>
                <a:lnTo>
                  <a:pt x="4840370" y="0"/>
                </a:lnTo>
                <a:lnTo>
                  <a:pt x="4840370" y="6758253"/>
                </a:lnTo>
                <a:lnTo>
                  <a:pt x="0" y="675825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TextBox 3"/>
          <p:cNvSpPr txBox="1"/>
          <p:nvPr/>
        </p:nvSpPr>
        <p:spPr>
          <a:xfrm>
            <a:off x="2937697" y="972382"/>
            <a:ext cx="13276560" cy="1193800"/>
          </a:xfrm>
          <a:prstGeom prst="rect">
            <a:avLst/>
          </a:prstGeom>
        </p:spPr>
        <p:txBody>
          <a:bodyPr lIns="0" tIns="0" rIns="0" bIns="0" rtlCol="0" anchor="t">
            <a:spAutoFit/>
          </a:bodyPr>
          <a:lstStyle/>
          <a:p>
            <a:pPr algn="ctr">
              <a:lnSpc>
                <a:spcPts val="9799"/>
              </a:lnSpc>
            </a:pPr>
            <a:r>
              <a:rPr lang="en-US" sz="6999" b="1">
                <a:solidFill>
                  <a:srgbClr val="3F3D3E"/>
                </a:solidFill>
                <a:latin typeface="Alexandria Bold"/>
                <a:ea typeface="Alexandria Bold"/>
                <a:cs typeface="Alexandria Bold"/>
                <a:sym typeface="Alexandria Bold"/>
              </a:rPr>
              <a:t>DATASET INFORMATION</a:t>
            </a:r>
          </a:p>
        </p:txBody>
      </p:sp>
      <p:sp>
        <p:nvSpPr>
          <p:cNvPr id="4" name="TextBox 4"/>
          <p:cNvSpPr txBox="1"/>
          <p:nvPr/>
        </p:nvSpPr>
        <p:spPr>
          <a:xfrm>
            <a:off x="6504684" y="2600812"/>
            <a:ext cx="5278633" cy="1736246"/>
          </a:xfrm>
          <a:prstGeom prst="rect">
            <a:avLst/>
          </a:prstGeom>
        </p:spPr>
        <p:txBody>
          <a:bodyPr lIns="0" tIns="0" rIns="0" bIns="0" rtlCol="0" anchor="t">
            <a:spAutoFit/>
          </a:bodyPr>
          <a:lstStyle/>
          <a:p>
            <a:pPr algn="ctr">
              <a:lnSpc>
                <a:spcPts val="4576"/>
              </a:lnSpc>
            </a:pPr>
            <a:r>
              <a:rPr lang="en-US" sz="3268" b="1">
                <a:solidFill>
                  <a:srgbClr val="545454"/>
                </a:solidFill>
                <a:latin typeface="Times New Roman Bold"/>
                <a:ea typeface="Times New Roman Bold"/>
                <a:cs typeface="Times New Roman Bold"/>
                <a:sym typeface="Times New Roman Bold"/>
              </a:rPr>
              <a:t>33 - FEATURES</a:t>
            </a:r>
          </a:p>
          <a:p>
            <a:pPr algn="ctr">
              <a:lnSpc>
                <a:spcPts val="4576"/>
              </a:lnSpc>
            </a:pPr>
            <a:r>
              <a:rPr lang="en-US" sz="3268" b="1">
                <a:solidFill>
                  <a:srgbClr val="545454"/>
                </a:solidFill>
                <a:latin typeface="Times New Roman Bold"/>
                <a:ea typeface="Times New Roman Bold"/>
                <a:cs typeface="Times New Roman Bold"/>
                <a:sym typeface="Times New Roman Bold"/>
              </a:rPr>
              <a:t>350 - STUDENT RECORDS</a:t>
            </a:r>
          </a:p>
          <a:p>
            <a:pPr algn="ctr">
              <a:lnSpc>
                <a:spcPts val="4576"/>
              </a:lnSpc>
            </a:pPr>
            <a:r>
              <a:rPr lang="en-US" sz="3268" b="1">
                <a:solidFill>
                  <a:srgbClr val="545454"/>
                </a:solidFill>
                <a:latin typeface="Times New Roman Bold"/>
                <a:ea typeface="Times New Roman Bold"/>
                <a:cs typeface="Times New Roman Bold"/>
                <a:sym typeface="Times New Roman Bold"/>
              </a:rPr>
              <a:t>1 - TARGET VARIABLE</a:t>
            </a:r>
          </a:p>
        </p:txBody>
      </p:sp>
      <p:sp>
        <p:nvSpPr>
          <p:cNvPr id="5" name="Freeform 5"/>
          <p:cNvSpPr/>
          <p:nvPr/>
        </p:nvSpPr>
        <p:spPr>
          <a:xfrm rot="-574333">
            <a:off x="-598671" y="5498906"/>
            <a:ext cx="4840370" cy="6758253"/>
          </a:xfrm>
          <a:custGeom>
            <a:avLst/>
            <a:gdLst/>
            <a:ahLst/>
            <a:cxnLst/>
            <a:rect l="l" t="t" r="r" b="b"/>
            <a:pathLst>
              <a:path w="4840370" h="6758253">
                <a:moveTo>
                  <a:pt x="0" y="0"/>
                </a:moveTo>
                <a:lnTo>
                  <a:pt x="4840370" y="0"/>
                </a:lnTo>
                <a:lnTo>
                  <a:pt x="4840370" y="6758253"/>
                </a:lnTo>
                <a:lnTo>
                  <a:pt x="0" y="6758253"/>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6" name="TextBox 6"/>
          <p:cNvSpPr txBox="1"/>
          <p:nvPr/>
        </p:nvSpPr>
        <p:spPr>
          <a:xfrm>
            <a:off x="5013280" y="4752638"/>
            <a:ext cx="9125393" cy="3055283"/>
          </a:xfrm>
          <a:prstGeom prst="rect">
            <a:avLst/>
          </a:prstGeom>
        </p:spPr>
        <p:txBody>
          <a:bodyPr lIns="0" tIns="0" rIns="0" bIns="0" rtlCol="0" anchor="t">
            <a:spAutoFit/>
          </a:bodyPr>
          <a:lstStyle/>
          <a:p>
            <a:pPr algn="ctr">
              <a:lnSpc>
                <a:spcPts val="4848"/>
              </a:lnSpc>
            </a:pPr>
            <a:r>
              <a:rPr lang="en-US" sz="3463" b="1">
                <a:solidFill>
                  <a:srgbClr val="545454"/>
                </a:solidFill>
                <a:latin typeface="Times New Roman Bold"/>
                <a:ea typeface="Times New Roman Bold"/>
                <a:cs typeface="Times New Roman Bold"/>
                <a:sym typeface="Times New Roman Bold"/>
              </a:rPr>
              <a:t>Feature Categories</a:t>
            </a:r>
          </a:p>
          <a:p>
            <a:pPr algn="ctr">
              <a:lnSpc>
                <a:spcPts val="4848"/>
              </a:lnSpc>
            </a:pPr>
            <a:r>
              <a:rPr lang="en-US" sz="3463">
                <a:solidFill>
                  <a:srgbClr val="545454"/>
                </a:solidFill>
                <a:latin typeface="Times New Roman"/>
                <a:ea typeface="Times New Roman"/>
                <a:cs typeface="Times New Roman"/>
                <a:sym typeface="Times New Roman"/>
              </a:rPr>
              <a:t>•</a:t>
            </a:r>
            <a:r>
              <a:rPr lang="en-US" sz="3463" b="1">
                <a:solidFill>
                  <a:srgbClr val="545454"/>
                </a:solidFill>
                <a:latin typeface="Times New Roman Bold"/>
                <a:ea typeface="Times New Roman Bold"/>
                <a:cs typeface="Times New Roman Bold"/>
                <a:sym typeface="Times New Roman Bold"/>
              </a:rPr>
              <a:t>Academic:</a:t>
            </a:r>
            <a:r>
              <a:rPr lang="en-US" sz="3463">
                <a:solidFill>
                  <a:srgbClr val="545454"/>
                </a:solidFill>
                <a:latin typeface="Times New Roman"/>
                <a:ea typeface="Times New Roman"/>
                <a:cs typeface="Times New Roman"/>
                <a:sym typeface="Times New Roman"/>
              </a:rPr>
              <a:t> G1, G2, failures, studytime</a:t>
            </a:r>
          </a:p>
          <a:p>
            <a:pPr algn="ctr">
              <a:lnSpc>
                <a:spcPts val="4848"/>
              </a:lnSpc>
            </a:pPr>
            <a:r>
              <a:rPr lang="en-US" sz="3463">
                <a:solidFill>
                  <a:srgbClr val="545454"/>
                </a:solidFill>
                <a:latin typeface="Times New Roman"/>
                <a:ea typeface="Times New Roman"/>
                <a:cs typeface="Times New Roman"/>
                <a:sym typeface="Times New Roman"/>
              </a:rPr>
              <a:t>•</a:t>
            </a:r>
            <a:r>
              <a:rPr lang="en-US" sz="3463" b="1">
                <a:solidFill>
                  <a:srgbClr val="545454"/>
                </a:solidFill>
                <a:latin typeface="Times New Roman Bold"/>
                <a:ea typeface="Times New Roman Bold"/>
                <a:cs typeface="Times New Roman Bold"/>
                <a:sym typeface="Times New Roman Bold"/>
              </a:rPr>
              <a:t>Behavioral:</a:t>
            </a:r>
            <a:r>
              <a:rPr lang="en-US" sz="3463">
                <a:solidFill>
                  <a:srgbClr val="545454"/>
                </a:solidFill>
                <a:latin typeface="Times New Roman"/>
                <a:ea typeface="Times New Roman"/>
                <a:cs typeface="Times New Roman"/>
                <a:sym typeface="Times New Roman"/>
              </a:rPr>
              <a:t> absences, activities, freetime</a:t>
            </a:r>
          </a:p>
          <a:p>
            <a:pPr algn="ctr">
              <a:lnSpc>
                <a:spcPts val="4848"/>
              </a:lnSpc>
            </a:pPr>
            <a:r>
              <a:rPr lang="en-US" sz="3463">
                <a:solidFill>
                  <a:srgbClr val="545454"/>
                </a:solidFill>
                <a:latin typeface="Times New Roman"/>
                <a:ea typeface="Times New Roman"/>
                <a:cs typeface="Times New Roman"/>
                <a:sym typeface="Times New Roman"/>
              </a:rPr>
              <a:t>•</a:t>
            </a:r>
            <a:r>
              <a:rPr lang="en-US" sz="3463" b="1">
                <a:solidFill>
                  <a:srgbClr val="545454"/>
                </a:solidFill>
                <a:latin typeface="Times New Roman Bold"/>
                <a:ea typeface="Times New Roman Bold"/>
                <a:cs typeface="Times New Roman Bold"/>
                <a:sym typeface="Times New Roman Bold"/>
              </a:rPr>
              <a:t>Social:</a:t>
            </a:r>
            <a:r>
              <a:rPr lang="en-US" sz="3463">
                <a:solidFill>
                  <a:srgbClr val="545454"/>
                </a:solidFill>
                <a:latin typeface="Times New Roman"/>
                <a:ea typeface="Times New Roman"/>
                <a:cs typeface="Times New Roman"/>
                <a:sym typeface="Times New Roman"/>
              </a:rPr>
              <a:t> internet, paid classes, family support</a:t>
            </a:r>
          </a:p>
          <a:p>
            <a:pPr algn="ctr">
              <a:lnSpc>
                <a:spcPts val="4848"/>
              </a:lnSpc>
            </a:pPr>
            <a:r>
              <a:rPr lang="en-US" sz="3463">
                <a:solidFill>
                  <a:srgbClr val="545454"/>
                </a:solidFill>
                <a:latin typeface="Times New Roman"/>
                <a:ea typeface="Times New Roman"/>
                <a:cs typeface="Times New Roman"/>
                <a:sym typeface="Times New Roman"/>
              </a:rPr>
              <a:t>•</a:t>
            </a:r>
            <a:r>
              <a:rPr lang="en-US" sz="3463" b="1">
                <a:solidFill>
                  <a:srgbClr val="545454"/>
                </a:solidFill>
                <a:latin typeface="Times New Roman Bold"/>
                <a:ea typeface="Times New Roman Bold"/>
                <a:cs typeface="Times New Roman Bold"/>
                <a:sym typeface="Times New Roman Bold"/>
              </a:rPr>
              <a:t>Health &amp; Lifestyle:</a:t>
            </a:r>
            <a:r>
              <a:rPr lang="en-US" sz="3463">
                <a:solidFill>
                  <a:srgbClr val="545454"/>
                </a:solidFill>
                <a:latin typeface="Times New Roman"/>
                <a:ea typeface="Times New Roman"/>
                <a:cs typeface="Times New Roman"/>
                <a:sym typeface="Times New Roman"/>
              </a:rPr>
              <a:t> health, alcohol consumption</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E9E9E9"/>
        </a:solidFill>
        <a:effectLst/>
      </p:bgPr>
    </p:bg>
    <p:spTree>
      <p:nvGrpSpPr>
        <p:cNvPr id="1" name=""/>
        <p:cNvGrpSpPr/>
        <p:nvPr/>
      </p:nvGrpSpPr>
      <p:grpSpPr>
        <a:xfrm>
          <a:off x="0" y="0"/>
          <a:ext cx="0" cy="0"/>
          <a:chOff x="0" y="0"/>
          <a:chExt cx="0" cy="0"/>
        </a:xfrm>
      </p:grpSpPr>
      <p:sp>
        <p:nvSpPr>
          <p:cNvPr id="2" name="Freeform 2"/>
          <p:cNvSpPr/>
          <p:nvPr/>
        </p:nvSpPr>
        <p:spPr>
          <a:xfrm rot="5400000">
            <a:off x="-598671" y="-1743170"/>
            <a:ext cx="4840370" cy="6758253"/>
          </a:xfrm>
          <a:custGeom>
            <a:avLst/>
            <a:gdLst/>
            <a:ahLst/>
            <a:cxnLst/>
            <a:rect l="l" t="t" r="r" b="b"/>
            <a:pathLst>
              <a:path w="4840370" h="6758253">
                <a:moveTo>
                  <a:pt x="0" y="0"/>
                </a:moveTo>
                <a:lnTo>
                  <a:pt x="4840370" y="0"/>
                </a:lnTo>
                <a:lnTo>
                  <a:pt x="4840370" y="6758253"/>
                </a:lnTo>
                <a:lnTo>
                  <a:pt x="0" y="675825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TextBox 3"/>
          <p:cNvSpPr txBox="1"/>
          <p:nvPr/>
        </p:nvSpPr>
        <p:spPr>
          <a:xfrm>
            <a:off x="2056671" y="479385"/>
            <a:ext cx="14174659" cy="2494934"/>
          </a:xfrm>
          <a:prstGeom prst="rect">
            <a:avLst/>
          </a:prstGeom>
        </p:spPr>
        <p:txBody>
          <a:bodyPr lIns="0" tIns="0" rIns="0" bIns="0" rtlCol="0" anchor="t">
            <a:spAutoFit/>
          </a:bodyPr>
          <a:lstStyle/>
          <a:p>
            <a:pPr algn="ctr">
              <a:lnSpc>
                <a:spcPts val="10068"/>
              </a:lnSpc>
            </a:pPr>
            <a:r>
              <a:rPr lang="en-US" sz="7191" b="1">
                <a:solidFill>
                  <a:srgbClr val="3F3D3E"/>
                </a:solidFill>
                <a:latin typeface="Alexandria Bold"/>
                <a:ea typeface="Alexandria Bold"/>
                <a:cs typeface="Alexandria Bold"/>
                <a:sym typeface="Alexandria Bold"/>
              </a:rPr>
              <a:t>EXPLORATORY DATA ANALYSIS INSIGHTS</a:t>
            </a:r>
          </a:p>
        </p:txBody>
      </p:sp>
      <p:sp>
        <p:nvSpPr>
          <p:cNvPr id="4" name="TextBox 4"/>
          <p:cNvSpPr txBox="1"/>
          <p:nvPr/>
        </p:nvSpPr>
        <p:spPr>
          <a:xfrm>
            <a:off x="2056671" y="2971548"/>
            <a:ext cx="14930277" cy="6286752"/>
          </a:xfrm>
          <a:prstGeom prst="rect">
            <a:avLst/>
          </a:prstGeom>
        </p:spPr>
        <p:txBody>
          <a:bodyPr lIns="0" tIns="0" rIns="0" bIns="0" rtlCol="0" anchor="t">
            <a:spAutoFit/>
          </a:bodyPr>
          <a:lstStyle/>
          <a:p>
            <a:pPr algn="l">
              <a:lnSpc>
                <a:spcPts val="4186"/>
              </a:lnSpc>
            </a:pPr>
            <a:r>
              <a:rPr lang="en-US" sz="2990" b="1">
                <a:solidFill>
                  <a:srgbClr val="545454"/>
                </a:solidFill>
                <a:latin typeface="Times New Roman Bold"/>
                <a:ea typeface="Times New Roman Bold"/>
                <a:cs typeface="Times New Roman Bold"/>
                <a:sym typeface="Times New Roman Bold"/>
              </a:rPr>
              <a:t>Strong Correlation</a:t>
            </a:r>
          </a:p>
          <a:p>
            <a:pPr algn="l">
              <a:lnSpc>
                <a:spcPts val="4186"/>
              </a:lnSpc>
            </a:pPr>
            <a:r>
              <a:rPr lang="en-US" sz="2990">
                <a:solidFill>
                  <a:srgbClr val="545454"/>
                </a:solidFill>
                <a:latin typeface="Times New Roman"/>
                <a:ea typeface="Times New Roman"/>
                <a:cs typeface="Times New Roman"/>
                <a:sym typeface="Times New Roman"/>
              </a:rPr>
              <a:t>G1 and G2 show a strong positive correlation with G3, indicating previous performance is a reliable predictor.</a:t>
            </a:r>
          </a:p>
          <a:p>
            <a:pPr algn="l">
              <a:lnSpc>
                <a:spcPts val="4186"/>
              </a:lnSpc>
            </a:pPr>
            <a:r>
              <a:rPr lang="en-US" sz="2990" b="1">
                <a:solidFill>
                  <a:srgbClr val="545454"/>
                </a:solidFill>
                <a:latin typeface="Times New Roman Bold"/>
                <a:ea typeface="Times New Roman Bold"/>
                <a:cs typeface="Times New Roman Bold"/>
                <a:sym typeface="Times New Roman Bold"/>
              </a:rPr>
              <a:t>Study Time Impact</a:t>
            </a:r>
          </a:p>
          <a:p>
            <a:pPr algn="l">
              <a:lnSpc>
                <a:spcPts val="4186"/>
              </a:lnSpc>
            </a:pPr>
            <a:r>
              <a:rPr lang="en-US" sz="2990">
                <a:solidFill>
                  <a:srgbClr val="545454"/>
                </a:solidFill>
                <a:latin typeface="Times New Roman"/>
                <a:ea typeface="Times New Roman"/>
                <a:cs typeface="Times New Roman"/>
                <a:sym typeface="Times New Roman"/>
              </a:rPr>
              <a:t>Study time has a moderate positive impact on final grades, though less significant than previous grades.</a:t>
            </a:r>
          </a:p>
          <a:p>
            <a:pPr algn="l">
              <a:lnSpc>
                <a:spcPts val="4186"/>
              </a:lnSpc>
            </a:pPr>
            <a:r>
              <a:rPr lang="en-US" sz="2990" b="1">
                <a:solidFill>
                  <a:srgbClr val="545454"/>
                </a:solidFill>
                <a:latin typeface="Times New Roman Bold"/>
                <a:ea typeface="Times New Roman Bold"/>
                <a:cs typeface="Times New Roman Bold"/>
                <a:sym typeface="Times New Roman Bold"/>
              </a:rPr>
              <a:t>Absence Effects</a:t>
            </a:r>
          </a:p>
          <a:p>
            <a:pPr algn="l">
              <a:lnSpc>
                <a:spcPts val="4186"/>
              </a:lnSpc>
            </a:pPr>
            <a:r>
              <a:rPr lang="en-US" sz="2990">
                <a:solidFill>
                  <a:srgbClr val="545454"/>
                </a:solidFill>
                <a:latin typeface="Times New Roman"/>
                <a:ea typeface="Times New Roman"/>
                <a:cs typeface="Times New Roman"/>
                <a:sym typeface="Times New Roman"/>
              </a:rPr>
              <a:t>Absences negatively affect performance but contain outliers that require careful handling during preprocessing.</a:t>
            </a:r>
          </a:p>
          <a:p>
            <a:pPr algn="l">
              <a:lnSpc>
                <a:spcPts val="4186"/>
              </a:lnSpc>
            </a:pPr>
            <a:r>
              <a:rPr lang="en-US" sz="2990" b="1">
                <a:solidFill>
                  <a:srgbClr val="545454"/>
                </a:solidFill>
                <a:latin typeface="Times New Roman Bold"/>
                <a:ea typeface="Times New Roman Bold"/>
                <a:cs typeface="Times New Roman Bold"/>
                <a:sym typeface="Times New Roman Bold"/>
              </a:rPr>
              <a:t>Binary Features</a:t>
            </a:r>
          </a:p>
          <a:p>
            <a:pPr algn="l">
              <a:lnSpc>
                <a:spcPts val="4186"/>
              </a:lnSpc>
              <a:spcBef>
                <a:spcPct val="0"/>
              </a:spcBef>
            </a:pPr>
            <a:r>
              <a:rPr lang="en-US" sz="2990">
                <a:solidFill>
                  <a:srgbClr val="545454"/>
                </a:solidFill>
                <a:latin typeface="Times New Roman"/>
                <a:ea typeface="Times New Roman"/>
                <a:cs typeface="Times New Roman"/>
                <a:sym typeface="Times New Roman"/>
              </a:rPr>
              <a:t>Binary features like internet access and paid classes show indirect influence on academic outcomes.</a:t>
            </a:r>
          </a:p>
        </p:txBody>
      </p:sp>
      <p:sp>
        <p:nvSpPr>
          <p:cNvPr id="5" name="Freeform 5"/>
          <p:cNvSpPr/>
          <p:nvPr/>
        </p:nvSpPr>
        <p:spPr>
          <a:xfrm rot="-574333">
            <a:off x="-598671" y="5498906"/>
            <a:ext cx="4840370" cy="6758253"/>
          </a:xfrm>
          <a:custGeom>
            <a:avLst/>
            <a:gdLst/>
            <a:ahLst/>
            <a:cxnLst/>
            <a:rect l="l" t="t" r="r" b="b"/>
            <a:pathLst>
              <a:path w="4840370" h="6758253">
                <a:moveTo>
                  <a:pt x="0" y="0"/>
                </a:moveTo>
                <a:lnTo>
                  <a:pt x="4840370" y="0"/>
                </a:lnTo>
                <a:lnTo>
                  <a:pt x="4840370" y="6758253"/>
                </a:lnTo>
                <a:lnTo>
                  <a:pt x="0" y="6758253"/>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E9E9E9"/>
        </a:solidFill>
        <a:effectLst/>
      </p:bgPr>
    </p:bg>
    <p:spTree>
      <p:nvGrpSpPr>
        <p:cNvPr id="1" name=""/>
        <p:cNvGrpSpPr/>
        <p:nvPr/>
      </p:nvGrpSpPr>
      <p:grpSpPr>
        <a:xfrm>
          <a:off x="0" y="0"/>
          <a:ext cx="0" cy="0"/>
          <a:chOff x="0" y="0"/>
          <a:chExt cx="0" cy="0"/>
        </a:xfrm>
      </p:grpSpPr>
      <p:sp>
        <p:nvSpPr>
          <p:cNvPr id="2" name="Freeform 2"/>
          <p:cNvSpPr/>
          <p:nvPr/>
        </p:nvSpPr>
        <p:spPr>
          <a:xfrm rot="5400000">
            <a:off x="-598671" y="-1743170"/>
            <a:ext cx="4840370" cy="6758253"/>
          </a:xfrm>
          <a:custGeom>
            <a:avLst/>
            <a:gdLst/>
            <a:ahLst/>
            <a:cxnLst/>
            <a:rect l="l" t="t" r="r" b="b"/>
            <a:pathLst>
              <a:path w="4840370" h="6758253">
                <a:moveTo>
                  <a:pt x="0" y="0"/>
                </a:moveTo>
                <a:lnTo>
                  <a:pt x="4840370" y="0"/>
                </a:lnTo>
                <a:lnTo>
                  <a:pt x="4840370" y="6758253"/>
                </a:lnTo>
                <a:lnTo>
                  <a:pt x="0" y="675825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TextBox 3"/>
          <p:cNvSpPr txBox="1"/>
          <p:nvPr/>
        </p:nvSpPr>
        <p:spPr>
          <a:xfrm>
            <a:off x="3205732" y="581126"/>
            <a:ext cx="12341656" cy="2432050"/>
          </a:xfrm>
          <a:prstGeom prst="rect">
            <a:avLst/>
          </a:prstGeom>
        </p:spPr>
        <p:txBody>
          <a:bodyPr lIns="0" tIns="0" rIns="0" bIns="0" rtlCol="0" anchor="t">
            <a:spAutoFit/>
          </a:bodyPr>
          <a:lstStyle/>
          <a:p>
            <a:pPr algn="ctr">
              <a:lnSpc>
                <a:spcPts val="9799"/>
              </a:lnSpc>
            </a:pPr>
            <a:r>
              <a:rPr lang="en-US" sz="6999" b="1">
                <a:solidFill>
                  <a:srgbClr val="3F3D3E"/>
                </a:solidFill>
                <a:latin typeface="Alexandria Bold"/>
                <a:ea typeface="Alexandria Bold"/>
                <a:cs typeface="Alexandria Bold"/>
                <a:sym typeface="Alexandria Bold"/>
              </a:rPr>
              <a:t>FEATURE SELECTION &amp; MODEL COMPARISON</a:t>
            </a:r>
          </a:p>
        </p:txBody>
      </p:sp>
      <p:sp>
        <p:nvSpPr>
          <p:cNvPr id="4" name="TextBox 4"/>
          <p:cNvSpPr txBox="1"/>
          <p:nvPr/>
        </p:nvSpPr>
        <p:spPr>
          <a:xfrm>
            <a:off x="2507921" y="3139994"/>
            <a:ext cx="14600251" cy="4588031"/>
          </a:xfrm>
          <a:prstGeom prst="rect">
            <a:avLst/>
          </a:prstGeom>
        </p:spPr>
        <p:txBody>
          <a:bodyPr lIns="0" tIns="0" rIns="0" bIns="0" rtlCol="0" anchor="t">
            <a:spAutoFit/>
          </a:bodyPr>
          <a:lstStyle/>
          <a:p>
            <a:pPr algn="l">
              <a:lnSpc>
                <a:spcPts val="4576"/>
              </a:lnSpc>
            </a:pPr>
            <a:r>
              <a:rPr lang="en-US" sz="3268" b="1">
                <a:solidFill>
                  <a:srgbClr val="545454"/>
                </a:solidFill>
                <a:latin typeface="Times New Roman Bold"/>
                <a:ea typeface="Times New Roman Bold"/>
                <a:cs typeface="Times New Roman Bold"/>
                <a:sym typeface="Times New Roman Bold"/>
              </a:rPr>
              <a:t>Feature Selection Rationale</a:t>
            </a:r>
          </a:p>
          <a:p>
            <a:pPr algn="l">
              <a:lnSpc>
                <a:spcPts val="4576"/>
              </a:lnSpc>
            </a:pPr>
            <a:r>
              <a:rPr lang="en-US" sz="3268">
                <a:solidFill>
                  <a:srgbClr val="545454"/>
                </a:solidFill>
                <a:latin typeface="Times New Roman"/>
                <a:ea typeface="Times New Roman"/>
                <a:cs typeface="Times New Roman"/>
                <a:sym typeface="Times New Roman"/>
              </a:rPr>
              <a:t>Based on correlation analysis, visualization, and feature importance:</a:t>
            </a:r>
          </a:p>
          <a:p>
            <a:pPr algn="l">
              <a:lnSpc>
                <a:spcPts val="4576"/>
              </a:lnSpc>
            </a:pPr>
            <a:r>
              <a:rPr lang="en-US" sz="3268" b="1">
                <a:solidFill>
                  <a:srgbClr val="545454"/>
                </a:solidFill>
                <a:latin typeface="Times New Roman Bold"/>
                <a:ea typeface="Times New Roman Bold"/>
                <a:cs typeface="Times New Roman Bold"/>
                <a:sym typeface="Times New Roman Bold"/>
              </a:rPr>
              <a:t>Strong Predictors</a:t>
            </a:r>
          </a:p>
          <a:p>
            <a:pPr algn="l">
              <a:lnSpc>
                <a:spcPts val="4576"/>
              </a:lnSpc>
            </a:pPr>
            <a:r>
              <a:rPr lang="en-US" sz="3268">
                <a:solidFill>
                  <a:srgbClr val="545454"/>
                </a:solidFill>
                <a:latin typeface="Times New Roman"/>
                <a:ea typeface="Times New Roman"/>
                <a:cs typeface="Times New Roman"/>
                <a:sym typeface="Times New Roman"/>
              </a:rPr>
              <a:t>G1, G2, failures, studytime, absences</a:t>
            </a:r>
          </a:p>
          <a:p>
            <a:pPr algn="l">
              <a:lnSpc>
                <a:spcPts val="4576"/>
              </a:lnSpc>
            </a:pPr>
            <a:r>
              <a:rPr lang="en-US" sz="3268" b="1">
                <a:solidFill>
                  <a:srgbClr val="545454"/>
                </a:solidFill>
                <a:latin typeface="Times New Roman Bold"/>
                <a:ea typeface="Times New Roman Bold"/>
                <a:cs typeface="Times New Roman Bold"/>
                <a:sym typeface="Times New Roman Bold"/>
              </a:rPr>
              <a:t>Moderate Predictors</a:t>
            </a:r>
          </a:p>
          <a:p>
            <a:pPr algn="l">
              <a:lnSpc>
                <a:spcPts val="4576"/>
              </a:lnSpc>
            </a:pPr>
            <a:r>
              <a:rPr lang="en-US" sz="3268">
                <a:solidFill>
                  <a:srgbClr val="545454"/>
                </a:solidFill>
                <a:latin typeface="Times New Roman"/>
                <a:ea typeface="Times New Roman"/>
                <a:cs typeface="Times New Roman"/>
                <a:sym typeface="Times New Roman"/>
              </a:rPr>
              <a:t>Internet, paid, activities, family support, health</a:t>
            </a:r>
          </a:p>
          <a:p>
            <a:pPr algn="l">
              <a:lnSpc>
                <a:spcPts val="4576"/>
              </a:lnSpc>
            </a:pPr>
            <a:r>
              <a:rPr lang="en-US" sz="3268" b="1">
                <a:solidFill>
                  <a:srgbClr val="545454"/>
                </a:solidFill>
                <a:latin typeface="Times New Roman Bold"/>
                <a:ea typeface="Times New Roman Bold"/>
                <a:cs typeface="Times New Roman Bold"/>
                <a:sym typeface="Times New Roman Bold"/>
              </a:rPr>
              <a:t>Excluded Features</a:t>
            </a:r>
          </a:p>
          <a:p>
            <a:pPr algn="l">
              <a:lnSpc>
                <a:spcPts val="4156"/>
              </a:lnSpc>
            </a:pPr>
            <a:r>
              <a:rPr lang="en-US" sz="2968">
                <a:solidFill>
                  <a:srgbClr val="545454"/>
                </a:solidFill>
                <a:latin typeface="Times New Roman"/>
                <a:ea typeface="Times New Roman"/>
                <a:cs typeface="Times New Roman"/>
                <a:sym typeface="Times New Roman"/>
              </a:rPr>
              <a:t>Weak or redundant features were excluded to reduce noise and improve model generalization</a:t>
            </a:r>
          </a:p>
        </p:txBody>
      </p:sp>
      <p:sp>
        <p:nvSpPr>
          <p:cNvPr id="5" name="TextBox 5"/>
          <p:cNvSpPr txBox="1"/>
          <p:nvPr/>
        </p:nvSpPr>
        <p:spPr>
          <a:xfrm>
            <a:off x="6570983" y="7851850"/>
            <a:ext cx="5146034" cy="2317271"/>
          </a:xfrm>
          <a:prstGeom prst="rect">
            <a:avLst/>
          </a:prstGeom>
        </p:spPr>
        <p:txBody>
          <a:bodyPr lIns="0" tIns="0" rIns="0" bIns="0" rtlCol="0" anchor="t">
            <a:spAutoFit/>
          </a:bodyPr>
          <a:lstStyle/>
          <a:p>
            <a:pPr algn="ctr">
              <a:lnSpc>
                <a:spcPts val="4576"/>
              </a:lnSpc>
            </a:pPr>
            <a:r>
              <a:rPr lang="en-US" sz="3268" b="1">
                <a:solidFill>
                  <a:srgbClr val="545454"/>
                </a:solidFill>
                <a:latin typeface="Times New Roman Bold"/>
                <a:ea typeface="Times New Roman Bold"/>
                <a:cs typeface="Times New Roman Bold"/>
                <a:sym typeface="Times New Roman Bold"/>
              </a:rPr>
              <a:t>Three Regression Models :</a:t>
            </a:r>
          </a:p>
          <a:p>
            <a:pPr algn="ctr">
              <a:lnSpc>
                <a:spcPts val="4576"/>
              </a:lnSpc>
            </a:pPr>
            <a:r>
              <a:rPr lang="en-US" sz="3268">
                <a:solidFill>
                  <a:srgbClr val="545454"/>
                </a:solidFill>
                <a:latin typeface="Times New Roman"/>
                <a:ea typeface="Times New Roman"/>
                <a:cs typeface="Times New Roman"/>
                <a:sym typeface="Times New Roman"/>
              </a:rPr>
              <a:t>Linear Regression</a:t>
            </a:r>
          </a:p>
          <a:p>
            <a:pPr algn="ctr">
              <a:lnSpc>
                <a:spcPts val="4576"/>
              </a:lnSpc>
            </a:pPr>
            <a:r>
              <a:rPr lang="en-US" sz="3268">
                <a:solidFill>
                  <a:srgbClr val="545454"/>
                </a:solidFill>
                <a:latin typeface="Times New Roman"/>
                <a:ea typeface="Times New Roman"/>
                <a:cs typeface="Times New Roman"/>
                <a:sym typeface="Times New Roman"/>
              </a:rPr>
              <a:t>Decision Tree Regressor</a:t>
            </a:r>
          </a:p>
          <a:p>
            <a:pPr algn="ctr">
              <a:lnSpc>
                <a:spcPts val="4576"/>
              </a:lnSpc>
            </a:pPr>
            <a:r>
              <a:rPr lang="en-US" sz="3268">
                <a:solidFill>
                  <a:srgbClr val="545454"/>
                </a:solidFill>
                <a:latin typeface="Times New Roman"/>
                <a:ea typeface="Times New Roman"/>
                <a:cs typeface="Times New Roman"/>
                <a:sym typeface="Times New Roman"/>
              </a:rPr>
              <a:t>Random Forest</a:t>
            </a:r>
          </a:p>
        </p:txBody>
      </p:sp>
      <p:sp>
        <p:nvSpPr>
          <p:cNvPr id="6" name="Freeform 6"/>
          <p:cNvSpPr/>
          <p:nvPr/>
        </p:nvSpPr>
        <p:spPr>
          <a:xfrm rot="-574333">
            <a:off x="-598671" y="5498906"/>
            <a:ext cx="4840370" cy="6758253"/>
          </a:xfrm>
          <a:custGeom>
            <a:avLst/>
            <a:gdLst/>
            <a:ahLst/>
            <a:cxnLst/>
            <a:rect l="l" t="t" r="r" b="b"/>
            <a:pathLst>
              <a:path w="4840370" h="6758253">
                <a:moveTo>
                  <a:pt x="0" y="0"/>
                </a:moveTo>
                <a:lnTo>
                  <a:pt x="4840370" y="0"/>
                </a:lnTo>
                <a:lnTo>
                  <a:pt x="4840370" y="6758253"/>
                </a:lnTo>
                <a:lnTo>
                  <a:pt x="0" y="6758253"/>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E9E9E9"/>
        </a:solidFill>
        <a:effectLst/>
      </p:bgPr>
    </p:bg>
    <p:spTree>
      <p:nvGrpSpPr>
        <p:cNvPr id="1" name=""/>
        <p:cNvGrpSpPr/>
        <p:nvPr/>
      </p:nvGrpSpPr>
      <p:grpSpPr>
        <a:xfrm>
          <a:off x="0" y="0"/>
          <a:ext cx="0" cy="0"/>
          <a:chOff x="0" y="0"/>
          <a:chExt cx="0" cy="0"/>
        </a:xfrm>
      </p:grpSpPr>
      <p:sp>
        <p:nvSpPr>
          <p:cNvPr id="2" name="Freeform 2"/>
          <p:cNvSpPr/>
          <p:nvPr/>
        </p:nvSpPr>
        <p:spPr>
          <a:xfrm rot="5400000">
            <a:off x="-598671" y="-1743170"/>
            <a:ext cx="4840370" cy="6758253"/>
          </a:xfrm>
          <a:custGeom>
            <a:avLst/>
            <a:gdLst/>
            <a:ahLst/>
            <a:cxnLst/>
            <a:rect l="l" t="t" r="r" b="b"/>
            <a:pathLst>
              <a:path w="4840370" h="6758253">
                <a:moveTo>
                  <a:pt x="0" y="0"/>
                </a:moveTo>
                <a:lnTo>
                  <a:pt x="4840370" y="0"/>
                </a:lnTo>
                <a:lnTo>
                  <a:pt x="4840370" y="6758253"/>
                </a:lnTo>
                <a:lnTo>
                  <a:pt x="0" y="675825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rot="-574333">
            <a:off x="-598671" y="5498906"/>
            <a:ext cx="4840370" cy="6758253"/>
          </a:xfrm>
          <a:custGeom>
            <a:avLst/>
            <a:gdLst/>
            <a:ahLst/>
            <a:cxnLst/>
            <a:rect l="l" t="t" r="r" b="b"/>
            <a:pathLst>
              <a:path w="4840370" h="6758253">
                <a:moveTo>
                  <a:pt x="0" y="0"/>
                </a:moveTo>
                <a:lnTo>
                  <a:pt x="4840370" y="0"/>
                </a:lnTo>
                <a:lnTo>
                  <a:pt x="4840370" y="6758253"/>
                </a:lnTo>
                <a:lnTo>
                  <a:pt x="0" y="6758253"/>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5" name="TextBox 5"/>
          <p:cNvSpPr txBox="1"/>
          <p:nvPr/>
        </p:nvSpPr>
        <p:spPr>
          <a:xfrm>
            <a:off x="4016646" y="330846"/>
            <a:ext cx="10254708" cy="1176476"/>
          </a:xfrm>
          <a:prstGeom prst="rect">
            <a:avLst/>
          </a:prstGeom>
        </p:spPr>
        <p:txBody>
          <a:bodyPr lIns="0" tIns="0" rIns="0" bIns="0" rtlCol="0" anchor="t">
            <a:spAutoFit/>
          </a:bodyPr>
          <a:lstStyle/>
          <a:p>
            <a:pPr algn="ctr">
              <a:lnSpc>
                <a:spcPts val="9909"/>
              </a:lnSpc>
            </a:pPr>
            <a:r>
              <a:rPr lang="en-US" sz="7078" b="1" dirty="0">
                <a:solidFill>
                  <a:srgbClr val="3F3D3E"/>
                </a:solidFill>
                <a:latin typeface="Alexandria Bold"/>
                <a:ea typeface="Alexandria Bold"/>
                <a:cs typeface="Alexandria Bold"/>
                <a:sym typeface="Alexandria Bold"/>
              </a:rPr>
              <a:t>GRAPHS</a:t>
            </a:r>
          </a:p>
        </p:txBody>
      </p:sp>
      <p:pic>
        <p:nvPicPr>
          <p:cNvPr id="7" name="Picture 6">
            <a:extLst>
              <a:ext uri="{FF2B5EF4-FFF2-40B4-BE49-F238E27FC236}">
                <a16:creationId xmlns:a16="http://schemas.microsoft.com/office/drawing/2014/main" id="{135390D6-B7C2-3840-BF41-E944EDCB9C18}"/>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2514600" y="2594680"/>
            <a:ext cx="5191125" cy="5191125"/>
          </a:xfrm>
          <a:prstGeom prst="rect">
            <a:avLst/>
          </a:prstGeom>
        </p:spPr>
      </p:pic>
      <p:pic>
        <p:nvPicPr>
          <p:cNvPr id="9" name="Picture 8">
            <a:extLst>
              <a:ext uri="{FF2B5EF4-FFF2-40B4-BE49-F238E27FC236}">
                <a16:creationId xmlns:a16="http://schemas.microsoft.com/office/drawing/2014/main" id="{98078760-6A3F-8BDB-8C58-DE93D3EF406B}"/>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8380932" y="2585319"/>
            <a:ext cx="8515350" cy="5191125"/>
          </a:xfrm>
          <a:prstGeom prst="rect">
            <a:avLst/>
          </a:prstGeom>
        </p:spPr>
      </p:pic>
      <p:sp>
        <p:nvSpPr>
          <p:cNvPr id="12" name="TextBox 11">
            <a:extLst>
              <a:ext uri="{FF2B5EF4-FFF2-40B4-BE49-F238E27FC236}">
                <a16:creationId xmlns:a16="http://schemas.microsoft.com/office/drawing/2014/main" id="{00FEA085-FA91-205A-8938-3F07C4343105}"/>
              </a:ext>
            </a:extLst>
          </p:cNvPr>
          <p:cNvSpPr txBox="1"/>
          <p:nvPr/>
        </p:nvSpPr>
        <p:spPr>
          <a:xfrm>
            <a:off x="4572000" y="8115300"/>
            <a:ext cx="4267200" cy="461665"/>
          </a:xfrm>
          <a:prstGeom prst="rect">
            <a:avLst/>
          </a:prstGeom>
          <a:noFill/>
        </p:spPr>
        <p:txBody>
          <a:bodyPr wrap="square" rtlCol="0">
            <a:spAutoFit/>
          </a:bodyPr>
          <a:lstStyle/>
          <a:p>
            <a:r>
              <a:rPr lang="en-IN" sz="2400" b="1" dirty="0">
                <a:latin typeface="Times New Roman" panose="02020603050405020304" pitchFamily="18" charset="0"/>
                <a:cs typeface="Times New Roman" panose="02020603050405020304" pitchFamily="18" charset="0"/>
              </a:rPr>
              <a:t>GRAPH 1</a:t>
            </a:r>
          </a:p>
        </p:txBody>
      </p:sp>
      <p:sp>
        <p:nvSpPr>
          <p:cNvPr id="14" name="TextBox 13">
            <a:extLst>
              <a:ext uri="{FF2B5EF4-FFF2-40B4-BE49-F238E27FC236}">
                <a16:creationId xmlns:a16="http://schemas.microsoft.com/office/drawing/2014/main" id="{9B66DFDC-5EA8-3AA8-92EC-2F4D8D72CD1A}"/>
              </a:ext>
            </a:extLst>
          </p:cNvPr>
          <p:cNvSpPr txBox="1"/>
          <p:nvPr/>
        </p:nvSpPr>
        <p:spPr>
          <a:xfrm>
            <a:off x="11811000" y="8107680"/>
            <a:ext cx="1707082" cy="461665"/>
          </a:xfrm>
          <a:prstGeom prst="rect">
            <a:avLst/>
          </a:prstGeom>
          <a:noFill/>
        </p:spPr>
        <p:txBody>
          <a:bodyPr wrap="square">
            <a:spAutoFit/>
          </a:bodyPr>
          <a:lstStyle/>
          <a:p>
            <a:r>
              <a:rPr lang="en-IN" sz="2400" b="1" dirty="0">
                <a:latin typeface="Times New Roman" panose="02020603050405020304" pitchFamily="18" charset="0"/>
                <a:cs typeface="Times New Roman" panose="02020603050405020304" pitchFamily="18" charset="0"/>
              </a:rPr>
              <a:t>GRAPH 2</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E9E9E9"/>
        </a:solidFill>
        <a:effectLst/>
      </p:bgPr>
    </p:bg>
    <p:spTree>
      <p:nvGrpSpPr>
        <p:cNvPr id="1" name="">
          <a:extLst>
            <a:ext uri="{FF2B5EF4-FFF2-40B4-BE49-F238E27FC236}">
              <a16:creationId xmlns:a16="http://schemas.microsoft.com/office/drawing/2014/main" id="{3C17220C-2F94-3A5F-861F-83AEC3EE1BC2}"/>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1F4583B4-5F68-F4F0-ABC5-AFF93468BC01}"/>
              </a:ext>
            </a:extLst>
          </p:cNvPr>
          <p:cNvSpPr/>
          <p:nvPr/>
        </p:nvSpPr>
        <p:spPr>
          <a:xfrm rot="5400000">
            <a:off x="-598671" y="-1743170"/>
            <a:ext cx="4840370" cy="6758253"/>
          </a:xfrm>
          <a:custGeom>
            <a:avLst/>
            <a:gdLst/>
            <a:ahLst/>
            <a:cxnLst/>
            <a:rect l="l" t="t" r="r" b="b"/>
            <a:pathLst>
              <a:path w="4840370" h="6758253">
                <a:moveTo>
                  <a:pt x="0" y="0"/>
                </a:moveTo>
                <a:lnTo>
                  <a:pt x="4840370" y="0"/>
                </a:lnTo>
                <a:lnTo>
                  <a:pt x="4840370" y="6758253"/>
                </a:lnTo>
                <a:lnTo>
                  <a:pt x="0" y="675825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a:extLst>
              <a:ext uri="{FF2B5EF4-FFF2-40B4-BE49-F238E27FC236}">
                <a16:creationId xmlns:a16="http://schemas.microsoft.com/office/drawing/2014/main" id="{64DFE18D-26D7-C3C3-2931-E2D13249F425}"/>
              </a:ext>
            </a:extLst>
          </p:cNvPr>
          <p:cNvSpPr/>
          <p:nvPr/>
        </p:nvSpPr>
        <p:spPr>
          <a:xfrm rot="-574333">
            <a:off x="-598671" y="5498906"/>
            <a:ext cx="4840370" cy="6758253"/>
          </a:xfrm>
          <a:custGeom>
            <a:avLst/>
            <a:gdLst/>
            <a:ahLst/>
            <a:cxnLst/>
            <a:rect l="l" t="t" r="r" b="b"/>
            <a:pathLst>
              <a:path w="4840370" h="6758253">
                <a:moveTo>
                  <a:pt x="0" y="0"/>
                </a:moveTo>
                <a:lnTo>
                  <a:pt x="4840370" y="0"/>
                </a:lnTo>
                <a:lnTo>
                  <a:pt x="4840370" y="6758253"/>
                </a:lnTo>
                <a:lnTo>
                  <a:pt x="0" y="6758253"/>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5" name="TextBox 5">
            <a:extLst>
              <a:ext uri="{FF2B5EF4-FFF2-40B4-BE49-F238E27FC236}">
                <a16:creationId xmlns:a16="http://schemas.microsoft.com/office/drawing/2014/main" id="{D6AD8E38-272A-E5B7-D405-D67CE08FB19F}"/>
              </a:ext>
            </a:extLst>
          </p:cNvPr>
          <p:cNvSpPr txBox="1"/>
          <p:nvPr/>
        </p:nvSpPr>
        <p:spPr>
          <a:xfrm>
            <a:off x="4016646" y="330846"/>
            <a:ext cx="10254708" cy="1176476"/>
          </a:xfrm>
          <a:prstGeom prst="rect">
            <a:avLst/>
          </a:prstGeom>
        </p:spPr>
        <p:txBody>
          <a:bodyPr lIns="0" tIns="0" rIns="0" bIns="0" rtlCol="0" anchor="t">
            <a:spAutoFit/>
          </a:bodyPr>
          <a:lstStyle/>
          <a:p>
            <a:pPr algn="ctr">
              <a:lnSpc>
                <a:spcPts val="9909"/>
              </a:lnSpc>
            </a:pPr>
            <a:r>
              <a:rPr lang="en-US" sz="7078" b="1">
                <a:solidFill>
                  <a:srgbClr val="3F3D3E"/>
                </a:solidFill>
                <a:latin typeface="Alexandria Bold"/>
                <a:ea typeface="Alexandria Bold"/>
                <a:cs typeface="Alexandria Bold"/>
                <a:sym typeface="Alexandria Bold"/>
              </a:rPr>
              <a:t>HEATMAP GRAPH</a:t>
            </a:r>
            <a:endParaRPr lang="en-US" sz="7078" b="1" dirty="0">
              <a:solidFill>
                <a:srgbClr val="3F3D3E"/>
              </a:solidFill>
              <a:latin typeface="Alexandria Bold"/>
              <a:ea typeface="Alexandria Bold"/>
              <a:cs typeface="Alexandria Bold"/>
              <a:sym typeface="Alexandria Bold"/>
            </a:endParaRPr>
          </a:p>
        </p:txBody>
      </p:sp>
      <p:pic>
        <p:nvPicPr>
          <p:cNvPr id="6" name="Picture 5">
            <a:extLst>
              <a:ext uri="{FF2B5EF4-FFF2-40B4-BE49-F238E27FC236}">
                <a16:creationId xmlns:a16="http://schemas.microsoft.com/office/drawing/2014/main" id="{DBDA6B90-2871-0926-79F5-3EC140091FA5}"/>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2819400" y="1600988"/>
            <a:ext cx="12382500" cy="8036502"/>
          </a:xfrm>
          <a:prstGeom prst="rect">
            <a:avLst/>
          </a:prstGeom>
        </p:spPr>
      </p:pic>
    </p:spTree>
    <p:extLst>
      <p:ext uri="{BB962C8B-B14F-4D97-AF65-F5344CB8AC3E}">
        <p14:creationId xmlns:p14="http://schemas.microsoft.com/office/powerpoint/2010/main" val="179959755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E9E9E9"/>
        </a:solidFill>
        <a:effectLst/>
      </p:bgPr>
    </p:bg>
    <p:spTree>
      <p:nvGrpSpPr>
        <p:cNvPr id="1" name="">
          <a:extLst>
            <a:ext uri="{FF2B5EF4-FFF2-40B4-BE49-F238E27FC236}">
              <a16:creationId xmlns:a16="http://schemas.microsoft.com/office/drawing/2014/main" id="{BB5D7CD4-B226-4DF9-DFB4-00BDB425F132}"/>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FFB1EC8D-CA76-736D-D4F1-32E62FE33418}"/>
              </a:ext>
            </a:extLst>
          </p:cNvPr>
          <p:cNvSpPr/>
          <p:nvPr/>
        </p:nvSpPr>
        <p:spPr>
          <a:xfrm rot="5400000">
            <a:off x="-598671" y="-1743170"/>
            <a:ext cx="4840370" cy="6758253"/>
          </a:xfrm>
          <a:custGeom>
            <a:avLst/>
            <a:gdLst/>
            <a:ahLst/>
            <a:cxnLst/>
            <a:rect l="l" t="t" r="r" b="b"/>
            <a:pathLst>
              <a:path w="4840370" h="6758253">
                <a:moveTo>
                  <a:pt x="0" y="0"/>
                </a:moveTo>
                <a:lnTo>
                  <a:pt x="4840370" y="0"/>
                </a:lnTo>
                <a:lnTo>
                  <a:pt x="4840370" y="6758253"/>
                </a:lnTo>
                <a:lnTo>
                  <a:pt x="0" y="675825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a:extLst>
              <a:ext uri="{FF2B5EF4-FFF2-40B4-BE49-F238E27FC236}">
                <a16:creationId xmlns:a16="http://schemas.microsoft.com/office/drawing/2014/main" id="{C8A5DB1A-C7CE-85C5-230F-0951A2E90303}"/>
              </a:ext>
            </a:extLst>
          </p:cNvPr>
          <p:cNvSpPr/>
          <p:nvPr/>
        </p:nvSpPr>
        <p:spPr>
          <a:xfrm rot="-574333">
            <a:off x="-598671" y="5498906"/>
            <a:ext cx="4840370" cy="6758253"/>
          </a:xfrm>
          <a:custGeom>
            <a:avLst/>
            <a:gdLst/>
            <a:ahLst/>
            <a:cxnLst/>
            <a:rect l="l" t="t" r="r" b="b"/>
            <a:pathLst>
              <a:path w="4840370" h="6758253">
                <a:moveTo>
                  <a:pt x="0" y="0"/>
                </a:moveTo>
                <a:lnTo>
                  <a:pt x="4840370" y="0"/>
                </a:lnTo>
                <a:lnTo>
                  <a:pt x="4840370" y="6758253"/>
                </a:lnTo>
                <a:lnTo>
                  <a:pt x="0" y="6758253"/>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Freeform 4">
            <a:extLst>
              <a:ext uri="{FF2B5EF4-FFF2-40B4-BE49-F238E27FC236}">
                <a16:creationId xmlns:a16="http://schemas.microsoft.com/office/drawing/2014/main" id="{BCB39BF2-63FD-489E-F85D-DBDCC747AC31}"/>
              </a:ext>
            </a:extLst>
          </p:cNvPr>
          <p:cNvSpPr/>
          <p:nvPr/>
        </p:nvSpPr>
        <p:spPr>
          <a:xfrm>
            <a:off x="0" y="3732185"/>
            <a:ext cx="20525919" cy="3413431"/>
          </a:xfrm>
          <a:custGeom>
            <a:avLst/>
            <a:gdLst/>
            <a:ahLst/>
            <a:cxnLst/>
            <a:rect l="l" t="t" r="r" b="b"/>
            <a:pathLst>
              <a:path w="20525919" h="3413431">
                <a:moveTo>
                  <a:pt x="0" y="0"/>
                </a:moveTo>
                <a:lnTo>
                  <a:pt x="20525919" y="0"/>
                </a:lnTo>
                <a:lnTo>
                  <a:pt x="20525919" y="3413431"/>
                </a:lnTo>
                <a:lnTo>
                  <a:pt x="0" y="3413431"/>
                </a:lnTo>
                <a:lnTo>
                  <a:pt x="0" y="0"/>
                </a:lnTo>
                <a:close/>
              </a:path>
            </a:pathLst>
          </a:custGeom>
          <a:blipFill>
            <a:blip r:embed="rId6"/>
            <a:stretch>
              <a:fillRect l="-1946" r="-1885" b="-6923"/>
            </a:stretch>
          </a:blipFill>
        </p:spPr>
      </p:sp>
      <p:sp>
        <p:nvSpPr>
          <p:cNvPr id="5" name="TextBox 5">
            <a:extLst>
              <a:ext uri="{FF2B5EF4-FFF2-40B4-BE49-F238E27FC236}">
                <a16:creationId xmlns:a16="http://schemas.microsoft.com/office/drawing/2014/main" id="{C9E88C52-1EA6-3D60-0C4F-86D153D9F748}"/>
              </a:ext>
            </a:extLst>
          </p:cNvPr>
          <p:cNvSpPr txBox="1"/>
          <p:nvPr/>
        </p:nvSpPr>
        <p:spPr>
          <a:xfrm>
            <a:off x="4016646" y="330846"/>
            <a:ext cx="10254708" cy="2467347"/>
          </a:xfrm>
          <a:prstGeom prst="rect">
            <a:avLst/>
          </a:prstGeom>
        </p:spPr>
        <p:txBody>
          <a:bodyPr lIns="0" tIns="0" rIns="0" bIns="0" rtlCol="0" anchor="t">
            <a:spAutoFit/>
          </a:bodyPr>
          <a:lstStyle/>
          <a:p>
            <a:pPr algn="ctr">
              <a:lnSpc>
                <a:spcPts val="9909"/>
              </a:lnSpc>
            </a:pPr>
            <a:r>
              <a:rPr lang="en-US" sz="7078" b="1">
                <a:solidFill>
                  <a:srgbClr val="3F3D3E"/>
                </a:solidFill>
                <a:latin typeface="Alexandria Bold"/>
                <a:ea typeface="Alexandria Bold"/>
                <a:cs typeface="Alexandria Bold"/>
                <a:sym typeface="Alexandria Bold"/>
              </a:rPr>
              <a:t>MODEL EVALUATION RESULTS</a:t>
            </a:r>
          </a:p>
        </p:txBody>
      </p:sp>
    </p:spTree>
    <p:extLst>
      <p:ext uri="{BB962C8B-B14F-4D97-AF65-F5344CB8AC3E}">
        <p14:creationId xmlns:p14="http://schemas.microsoft.com/office/powerpoint/2010/main" val="168992649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E9E9E9"/>
        </a:solidFill>
        <a:effectLst/>
      </p:bgPr>
    </p:bg>
    <p:spTree>
      <p:nvGrpSpPr>
        <p:cNvPr id="1" name=""/>
        <p:cNvGrpSpPr/>
        <p:nvPr/>
      </p:nvGrpSpPr>
      <p:grpSpPr>
        <a:xfrm>
          <a:off x="0" y="0"/>
          <a:ext cx="0" cy="0"/>
          <a:chOff x="0" y="0"/>
          <a:chExt cx="0" cy="0"/>
        </a:xfrm>
      </p:grpSpPr>
      <p:sp>
        <p:nvSpPr>
          <p:cNvPr id="2" name="Freeform 2"/>
          <p:cNvSpPr/>
          <p:nvPr/>
        </p:nvSpPr>
        <p:spPr>
          <a:xfrm rot="5400000">
            <a:off x="-598671" y="-1743170"/>
            <a:ext cx="4840370" cy="6758253"/>
          </a:xfrm>
          <a:custGeom>
            <a:avLst/>
            <a:gdLst/>
            <a:ahLst/>
            <a:cxnLst/>
            <a:rect l="l" t="t" r="r" b="b"/>
            <a:pathLst>
              <a:path w="4840370" h="6758253">
                <a:moveTo>
                  <a:pt x="0" y="0"/>
                </a:moveTo>
                <a:lnTo>
                  <a:pt x="4840370" y="0"/>
                </a:lnTo>
                <a:lnTo>
                  <a:pt x="4840370" y="6758253"/>
                </a:lnTo>
                <a:lnTo>
                  <a:pt x="0" y="675825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TextBox 3"/>
          <p:cNvSpPr txBox="1"/>
          <p:nvPr/>
        </p:nvSpPr>
        <p:spPr>
          <a:xfrm>
            <a:off x="4016646" y="340371"/>
            <a:ext cx="10254708" cy="2432050"/>
          </a:xfrm>
          <a:prstGeom prst="rect">
            <a:avLst/>
          </a:prstGeom>
        </p:spPr>
        <p:txBody>
          <a:bodyPr lIns="0" tIns="0" rIns="0" bIns="0" rtlCol="0" anchor="t">
            <a:spAutoFit/>
          </a:bodyPr>
          <a:lstStyle/>
          <a:p>
            <a:pPr algn="ctr">
              <a:lnSpc>
                <a:spcPts val="9799"/>
              </a:lnSpc>
            </a:pPr>
            <a:r>
              <a:rPr lang="en-US" sz="6999" b="1">
                <a:solidFill>
                  <a:srgbClr val="3F3D3E"/>
                </a:solidFill>
                <a:latin typeface="Alexandria Bold"/>
                <a:ea typeface="Alexandria Bold"/>
                <a:cs typeface="Alexandria Bold"/>
                <a:sym typeface="Alexandria Bold"/>
              </a:rPr>
              <a:t>KEY INSIGHTS &amp; RESULT ANALYSIS</a:t>
            </a:r>
          </a:p>
        </p:txBody>
      </p:sp>
      <p:sp>
        <p:nvSpPr>
          <p:cNvPr id="4" name="TextBox 4"/>
          <p:cNvSpPr txBox="1"/>
          <p:nvPr/>
        </p:nvSpPr>
        <p:spPr>
          <a:xfrm>
            <a:off x="3443857" y="2945397"/>
            <a:ext cx="11400286" cy="6583836"/>
          </a:xfrm>
          <a:prstGeom prst="rect">
            <a:avLst/>
          </a:prstGeom>
        </p:spPr>
        <p:txBody>
          <a:bodyPr lIns="0" tIns="0" rIns="0" bIns="0" rtlCol="0" anchor="t">
            <a:spAutoFit/>
          </a:bodyPr>
          <a:lstStyle/>
          <a:p>
            <a:pPr algn="l">
              <a:lnSpc>
                <a:spcPts val="4156"/>
              </a:lnSpc>
            </a:pPr>
            <a:r>
              <a:rPr lang="en-US" sz="2968" b="1">
                <a:solidFill>
                  <a:srgbClr val="545454"/>
                </a:solidFill>
                <a:latin typeface="Times New Roman Bold"/>
                <a:ea typeface="Times New Roman Bold"/>
                <a:cs typeface="Times New Roman Bold"/>
                <a:sym typeface="Times New Roman Bold"/>
              </a:rPr>
              <a:t>Strongest Indicator</a:t>
            </a:r>
          </a:p>
          <a:p>
            <a:pPr algn="l">
              <a:lnSpc>
                <a:spcPts val="4016"/>
              </a:lnSpc>
            </a:pPr>
            <a:r>
              <a:rPr lang="en-US" sz="2868">
                <a:solidFill>
                  <a:srgbClr val="545454"/>
                </a:solidFill>
                <a:latin typeface="Times New Roman"/>
                <a:ea typeface="Times New Roman"/>
                <a:cs typeface="Times New Roman"/>
                <a:sym typeface="Times New Roman"/>
              </a:rPr>
              <a:t>Early academic grades (G1 &amp; G2) are the strongest predictors of final performance, with high correlation observed.</a:t>
            </a:r>
          </a:p>
          <a:p>
            <a:pPr algn="l">
              <a:lnSpc>
                <a:spcPts val="4016"/>
              </a:lnSpc>
            </a:pPr>
            <a:r>
              <a:rPr lang="en-US" sz="2868" b="1">
                <a:solidFill>
                  <a:srgbClr val="545454"/>
                </a:solidFill>
                <a:latin typeface="Times New Roman Bold"/>
                <a:ea typeface="Times New Roman Bold"/>
                <a:cs typeface="Times New Roman Bold"/>
                <a:sym typeface="Times New Roman Bold"/>
              </a:rPr>
              <a:t>Incremental Value</a:t>
            </a:r>
          </a:p>
          <a:p>
            <a:pPr algn="l">
              <a:lnSpc>
                <a:spcPts val="4016"/>
              </a:lnSpc>
            </a:pPr>
            <a:r>
              <a:rPr lang="en-US" sz="2868">
                <a:solidFill>
                  <a:srgbClr val="545454"/>
                </a:solidFill>
                <a:latin typeface="Times New Roman"/>
                <a:ea typeface="Times New Roman"/>
                <a:cs typeface="Times New Roman"/>
                <a:sym typeface="Times New Roman"/>
              </a:rPr>
              <a:t>Behavioral factors add incremental predictive value when combined with academic performance data.</a:t>
            </a:r>
          </a:p>
          <a:p>
            <a:pPr algn="l">
              <a:lnSpc>
                <a:spcPts val="4016"/>
              </a:lnSpc>
            </a:pPr>
            <a:r>
              <a:rPr lang="en-US" sz="2868" b="1">
                <a:solidFill>
                  <a:srgbClr val="545454"/>
                </a:solidFill>
                <a:latin typeface="Times New Roman Bold"/>
                <a:ea typeface="Times New Roman Bold"/>
                <a:cs typeface="Times New Roman Bold"/>
                <a:sym typeface="Times New Roman Bold"/>
              </a:rPr>
              <a:t>Early Intervention</a:t>
            </a:r>
          </a:p>
          <a:p>
            <a:pPr algn="l">
              <a:lnSpc>
                <a:spcPts val="4016"/>
              </a:lnSpc>
            </a:pPr>
            <a:r>
              <a:rPr lang="en-US" sz="2868">
                <a:solidFill>
                  <a:srgbClr val="545454"/>
                </a:solidFill>
                <a:latin typeface="Times New Roman"/>
                <a:ea typeface="Times New Roman"/>
                <a:cs typeface="Times New Roman"/>
                <a:sym typeface="Times New Roman"/>
              </a:rPr>
              <a:t>Machine learning models can support early intervention strategies before final results are declared.</a:t>
            </a:r>
          </a:p>
          <a:p>
            <a:pPr algn="l">
              <a:lnSpc>
                <a:spcPts val="4016"/>
              </a:lnSpc>
            </a:pPr>
            <a:r>
              <a:rPr lang="en-US" sz="2868" b="1">
                <a:solidFill>
                  <a:srgbClr val="545454"/>
                </a:solidFill>
                <a:latin typeface="Times New Roman Bold"/>
                <a:ea typeface="Times New Roman Bold"/>
                <a:cs typeface="Times New Roman Bold"/>
                <a:sym typeface="Times New Roman Bold"/>
              </a:rPr>
              <a:t>Human Context</a:t>
            </a:r>
          </a:p>
          <a:p>
            <a:pPr algn="l">
              <a:lnSpc>
                <a:spcPts val="4016"/>
              </a:lnSpc>
            </a:pPr>
            <a:r>
              <a:rPr lang="en-US" sz="2868">
                <a:solidFill>
                  <a:srgbClr val="545454"/>
                </a:solidFill>
                <a:latin typeface="Times New Roman"/>
                <a:ea typeface="Times New Roman"/>
                <a:cs typeface="Times New Roman"/>
                <a:sym typeface="Times New Roman"/>
              </a:rPr>
              <a:t>Prediction is feasible but not absolute—external factors and human context still play crucial roles.</a:t>
            </a:r>
          </a:p>
          <a:p>
            <a:pPr algn="l">
              <a:lnSpc>
                <a:spcPts val="4016"/>
              </a:lnSpc>
              <a:spcBef>
                <a:spcPct val="0"/>
              </a:spcBef>
            </a:pPr>
            <a:endParaRPr lang="en-US" sz="2868">
              <a:solidFill>
                <a:srgbClr val="545454"/>
              </a:solidFill>
              <a:latin typeface="Times New Roman"/>
              <a:ea typeface="Times New Roman"/>
              <a:cs typeface="Times New Roman"/>
              <a:sym typeface="Times New Roman"/>
            </a:endParaRPr>
          </a:p>
        </p:txBody>
      </p:sp>
      <p:sp>
        <p:nvSpPr>
          <p:cNvPr id="5" name="Freeform 5"/>
          <p:cNvSpPr/>
          <p:nvPr/>
        </p:nvSpPr>
        <p:spPr>
          <a:xfrm rot="-574333">
            <a:off x="-598671" y="5498906"/>
            <a:ext cx="4840370" cy="6758253"/>
          </a:xfrm>
          <a:custGeom>
            <a:avLst/>
            <a:gdLst/>
            <a:ahLst/>
            <a:cxnLst/>
            <a:rect l="l" t="t" r="r" b="b"/>
            <a:pathLst>
              <a:path w="4840370" h="6758253">
                <a:moveTo>
                  <a:pt x="0" y="0"/>
                </a:moveTo>
                <a:lnTo>
                  <a:pt x="4840370" y="0"/>
                </a:lnTo>
                <a:lnTo>
                  <a:pt x="4840370" y="6758253"/>
                </a:lnTo>
                <a:lnTo>
                  <a:pt x="0" y="6758253"/>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E9E9E9"/>
        </a:solidFill>
        <a:effectLst/>
      </p:bgPr>
    </p:bg>
    <p:spTree>
      <p:nvGrpSpPr>
        <p:cNvPr id="1" name=""/>
        <p:cNvGrpSpPr/>
        <p:nvPr/>
      </p:nvGrpSpPr>
      <p:grpSpPr>
        <a:xfrm>
          <a:off x="0" y="0"/>
          <a:ext cx="0" cy="0"/>
          <a:chOff x="0" y="0"/>
          <a:chExt cx="0" cy="0"/>
        </a:xfrm>
      </p:grpSpPr>
      <p:sp>
        <p:nvSpPr>
          <p:cNvPr id="2" name="Freeform 2"/>
          <p:cNvSpPr/>
          <p:nvPr/>
        </p:nvSpPr>
        <p:spPr>
          <a:xfrm rot="5400000">
            <a:off x="-598671" y="-1743170"/>
            <a:ext cx="4840370" cy="6758253"/>
          </a:xfrm>
          <a:custGeom>
            <a:avLst/>
            <a:gdLst/>
            <a:ahLst/>
            <a:cxnLst/>
            <a:rect l="l" t="t" r="r" b="b"/>
            <a:pathLst>
              <a:path w="4840370" h="6758253">
                <a:moveTo>
                  <a:pt x="0" y="0"/>
                </a:moveTo>
                <a:lnTo>
                  <a:pt x="4840370" y="0"/>
                </a:lnTo>
                <a:lnTo>
                  <a:pt x="4840370" y="6758253"/>
                </a:lnTo>
                <a:lnTo>
                  <a:pt x="0" y="675825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TextBox 3"/>
          <p:cNvSpPr txBox="1"/>
          <p:nvPr/>
        </p:nvSpPr>
        <p:spPr>
          <a:xfrm>
            <a:off x="4016646" y="340371"/>
            <a:ext cx="10254708" cy="2432050"/>
          </a:xfrm>
          <a:prstGeom prst="rect">
            <a:avLst/>
          </a:prstGeom>
        </p:spPr>
        <p:txBody>
          <a:bodyPr lIns="0" tIns="0" rIns="0" bIns="0" rtlCol="0" anchor="t">
            <a:spAutoFit/>
          </a:bodyPr>
          <a:lstStyle/>
          <a:p>
            <a:pPr algn="ctr">
              <a:lnSpc>
                <a:spcPts val="9799"/>
              </a:lnSpc>
            </a:pPr>
            <a:r>
              <a:rPr lang="en-US" sz="6999" b="1">
                <a:solidFill>
                  <a:srgbClr val="3F3D3E"/>
                </a:solidFill>
                <a:latin typeface="Alexandria Bold"/>
                <a:ea typeface="Alexandria Bold"/>
                <a:cs typeface="Alexandria Bold"/>
                <a:sym typeface="Alexandria Bold"/>
              </a:rPr>
              <a:t>CONCLUSION &amp; FUTURE DIRECTIONS</a:t>
            </a:r>
          </a:p>
        </p:txBody>
      </p:sp>
      <p:sp>
        <p:nvSpPr>
          <p:cNvPr id="4" name="TextBox 4"/>
          <p:cNvSpPr txBox="1"/>
          <p:nvPr/>
        </p:nvSpPr>
        <p:spPr>
          <a:xfrm>
            <a:off x="3443857" y="2925704"/>
            <a:ext cx="11400286" cy="5763416"/>
          </a:xfrm>
          <a:prstGeom prst="rect">
            <a:avLst/>
          </a:prstGeom>
        </p:spPr>
        <p:txBody>
          <a:bodyPr lIns="0" tIns="0" rIns="0" bIns="0" rtlCol="0" anchor="t">
            <a:spAutoFit/>
          </a:bodyPr>
          <a:lstStyle/>
          <a:p>
            <a:pPr algn="l">
              <a:lnSpc>
                <a:spcPts val="4156"/>
              </a:lnSpc>
            </a:pPr>
            <a:r>
              <a:rPr lang="en-US" sz="2968" b="1">
                <a:solidFill>
                  <a:srgbClr val="545454"/>
                </a:solidFill>
                <a:latin typeface="Times New Roman Bold"/>
                <a:ea typeface="Times New Roman Bold"/>
                <a:cs typeface="Times New Roman Bold"/>
                <a:sym typeface="Times New Roman Bold"/>
              </a:rPr>
              <a:t>Project Success</a:t>
            </a:r>
          </a:p>
          <a:p>
            <a:pPr algn="l">
              <a:lnSpc>
                <a:spcPts val="4156"/>
              </a:lnSpc>
            </a:pPr>
            <a:r>
              <a:rPr lang="en-US" sz="2968">
                <a:solidFill>
                  <a:srgbClr val="545454"/>
                </a:solidFill>
                <a:latin typeface="Times New Roman"/>
                <a:ea typeface="Times New Roman"/>
                <a:cs typeface="Times New Roman"/>
                <a:sym typeface="Times New Roman"/>
              </a:rPr>
              <a:t>This project successfully demonstrates how machine learning can be used to predict student performance with reasonable accuracy. The results confirm that combining academic and behavioral features provides meaningful insights and supports data-driven decision making in education.</a:t>
            </a:r>
          </a:p>
          <a:p>
            <a:pPr algn="l">
              <a:lnSpc>
                <a:spcPts val="4156"/>
              </a:lnSpc>
            </a:pPr>
            <a:r>
              <a:rPr lang="en-US" sz="2968" b="1">
                <a:solidFill>
                  <a:srgbClr val="545454"/>
                </a:solidFill>
                <a:latin typeface="Times New Roman Bold"/>
                <a:ea typeface="Times New Roman Bold"/>
                <a:cs typeface="Times New Roman Bold"/>
                <a:sym typeface="Times New Roman Bold"/>
              </a:rPr>
              <a:t>Future Improvements :</a:t>
            </a:r>
          </a:p>
          <a:p>
            <a:pPr algn="l">
              <a:lnSpc>
                <a:spcPts val="4156"/>
              </a:lnSpc>
            </a:pPr>
            <a:r>
              <a:rPr lang="en-US" sz="2968">
                <a:solidFill>
                  <a:srgbClr val="545454"/>
                </a:solidFill>
                <a:latin typeface="Times New Roman"/>
                <a:ea typeface="Times New Roman"/>
                <a:cs typeface="Times New Roman"/>
                <a:sym typeface="Times New Roman"/>
              </a:rPr>
              <a:t>Hyperparameter tuning</a:t>
            </a:r>
          </a:p>
          <a:p>
            <a:pPr algn="l">
              <a:lnSpc>
                <a:spcPts val="4156"/>
              </a:lnSpc>
            </a:pPr>
            <a:r>
              <a:rPr lang="en-US" sz="2968">
                <a:solidFill>
                  <a:srgbClr val="545454"/>
                </a:solidFill>
                <a:latin typeface="Times New Roman"/>
                <a:ea typeface="Times New Roman"/>
                <a:cs typeface="Times New Roman"/>
                <a:sym typeface="Times New Roman"/>
              </a:rPr>
              <a:t>Cross-validation</a:t>
            </a:r>
          </a:p>
          <a:p>
            <a:pPr algn="l">
              <a:lnSpc>
                <a:spcPts val="4156"/>
              </a:lnSpc>
            </a:pPr>
            <a:r>
              <a:rPr lang="en-US" sz="2968">
                <a:solidFill>
                  <a:srgbClr val="545454"/>
                </a:solidFill>
                <a:latin typeface="Times New Roman"/>
                <a:ea typeface="Times New Roman"/>
                <a:cs typeface="Times New Roman"/>
                <a:sym typeface="Times New Roman"/>
              </a:rPr>
              <a:t>Inclusion of psychological or attendance-quality metrics</a:t>
            </a:r>
          </a:p>
          <a:p>
            <a:pPr algn="l">
              <a:lnSpc>
                <a:spcPts val="4156"/>
              </a:lnSpc>
              <a:spcBef>
                <a:spcPct val="0"/>
              </a:spcBef>
            </a:pPr>
            <a:endParaRPr lang="en-US" sz="2968">
              <a:solidFill>
                <a:srgbClr val="545454"/>
              </a:solidFill>
              <a:latin typeface="Times New Roman"/>
              <a:ea typeface="Times New Roman"/>
              <a:cs typeface="Times New Roman"/>
              <a:sym typeface="Times New Roman"/>
            </a:endParaRPr>
          </a:p>
        </p:txBody>
      </p:sp>
      <p:sp>
        <p:nvSpPr>
          <p:cNvPr id="5" name="Freeform 5"/>
          <p:cNvSpPr/>
          <p:nvPr/>
        </p:nvSpPr>
        <p:spPr>
          <a:xfrm rot="-574333">
            <a:off x="-598671" y="5498906"/>
            <a:ext cx="4840370" cy="6758253"/>
          </a:xfrm>
          <a:custGeom>
            <a:avLst/>
            <a:gdLst/>
            <a:ahLst/>
            <a:cxnLst/>
            <a:rect l="l" t="t" r="r" b="b"/>
            <a:pathLst>
              <a:path w="4840370" h="6758253">
                <a:moveTo>
                  <a:pt x="0" y="0"/>
                </a:moveTo>
                <a:lnTo>
                  <a:pt x="4840370" y="0"/>
                </a:lnTo>
                <a:lnTo>
                  <a:pt x="4840370" y="6758253"/>
                </a:lnTo>
                <a:lnTo>
                  <a:pt x="0" y="6758253"/>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E9E9E9"/>
        </a:solidFill>
        <a:effectLst/>
      </p:bgPr>
    </p:bg>
    <p:spTree>
      <p:nvGrpSpPr>
        <p:cNvPr id="1" name=""/>
        <p:cNvGrpSpPr/>
        <p:nvPr/>
      </p:nvGrpSpPr>
      <p:grpSpPr>
        <a:xfrm>
          <a:off x="0" y="0"/>
          <a:ext cx="0" cy="0"/>
          <a:chOff x="0" y="0"/>
          <a:chExt cx="0" cy="0"/>
        </a:xfrm>
      </p:grpSpPr>
      <p:sp>
        <p:nvSpPr>
          <p:cNvPr id="2" name="Freeform 2"/>
          <p:cNvSpPr/>
          <p:nvPr/>
        </p:nvSpPr>
        <p:spPr>
          <a:xfrm rot="5400000">
            <a:off x="-598671" y="-1743170"/>
            <a:ext cx="4840370" cy="6758253"/>
          </a:xfrm>
          <a:custGeom>
            <a:avLst/>
            <a:gdLst/>
            <a:ahLst/>
            <a:cxnLst/>
            <a:rect l="l" t="t" r="r" b="b"/>
            <a:pathLst>
              <a:path w="4840370" h="6758253">
                <a:moveTo>
                  <a:pt x="0" y="0"/>
                </a:moveTo>
                <a:lnTo>
                  <a:pt x="4840370" y="0"/>
                </a:lnTo>
                <a:lnTo>
                  <a:pt x="4840370" y="6758253"/>
                </a:lnTo>
                <a:lnTo>
                  <a:pt x="0" y="675825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TextBox 3"/>
          <p:cNvSpPr txBox="1"/>
          <p:nvPr/>
        </p:nvSpPr>
        <p:spPr>
          <a:xfrm>
            <a:off x="2668325" y="4118044"/>
            <a:ext cx="12951349" cy="1368424"/>
          </a:xfrm>
          <a:prstGeom prst="rect">
            <a:avLst/>
          </a:prstGeom>
        </p:spPr>
        <p:txBody>
          <a:bodyPr lIns="0" tIns="0" rIns="0" bIns="0" rtlCol="0" anchor="t">
            <a:spAutoFit/>
          </a:bodyPr>
          <a:lstStyle/>
          <a:p>
            <a:pPr algn="ctr">
              <a:lnSpc>
                <a:spcPts val="11200"/>
              </a:lnSpc>
            </a:pPr>
            <a:r>
              <a:rPr lang="en-US" sz="8000" b="1" dirty="0">
                <a:solidFill>
                  <a:srgbClr val="3F3D3E"/>
                </a:solidFill>
                <a:latin typeface="Alexandria Bold"/>
                <a:ea typeface="Alexandria Bold"/>
                <a:cs typeface="Alexandria Bold"/>
                <a:sym typeface="Alexandria Bold"/>
              </a:rPr>
              <a:t>THANK YOU!!</a:t>
            </a:r>
          </a:p>
        </p:txBody>
      </p:sp>
      <p:sp>
        <p:nvSpPr>
          <p:cNvPr id="4" name="Freeform 4"/>
          <p:cNvSpPr/>
          <p:nvPr/>
        </p:nvSpPr>
        <p:spPr>
          <a:xfrm rot="-574333">
            <a:off x="-598671" y="5498906"/>
            <a:ext cx="4840370" cy="6758253"/>
          </a:xfrm>
          <a:custGeom>
            <a:avLst/>
            <a:gdLst/>
            <a:ahLst/>
            <a:cxnLst/>
            <a:rect l="l" t="t" r="r" b="b"/>
            <a:pathLst>
              <a:path w="4840370" h="6758253">
                <a:moveTo>
                  <a:pt x="0" y="0"/>
                </a:moveTo>
                <a:lnTo>
                  <a:pt x="4840370" y="0"/>
                </a:lnTo>
                <a:lnTo>
                  <a:pt x="4840370" y="6758253"/>
                </a:lnTo>
                <a:lnTo>
                  <a:pt x="0" y="6758253"/>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27</TotalTime>
  <Words>666</Words>
  <Application>Microsoft Office PowerPoint</Application>
  <PresentationFormat>Custom</PresentationFormat>
  <Paragraphs>93</Paragraphs>
  <Slides>14</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14</vt:i4>
      </vt:variant>
    </vt:vector>
  </HeadingPairs>
  <TitlesOfParts>
    <vt:vector size="21" baseType="lpstr">
      <vt:lpstr>Arial</vt:lpstr>
      <vt:lpstr>Calibri</vt:lpstr>
      <vt:lpstr>Times New Roman</vt:lpstr>
      <vt:lpstr>Alexandria Bold</vt:lpstr>
      <vt:lpstr>Alexandria</vt:lpstr>
      <vt:lpstr>Times New Roman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Grey Minimalist Professional Project Presentation</dc:title>
  <dc:creator>sameer</dc:creator>
  <cp:lastModifiedBy>RAMESH RATHOD</cp:lastModifiedBy>
  <cp:revision>5</cp:revision>
  <dcterms:created xsi:type="dcterms:W3CDTF">2006-08-16T00:00:00Z</dcterms:created>
  <dcterms:modified xsi:type="dcterms:W3CDTF">2026-02-05T10:13:43Z</dcterms:modified>
  <dc:identifier>DAHAX1CCyrE</dc:identifier>
</cp:coreProperties>
</file>